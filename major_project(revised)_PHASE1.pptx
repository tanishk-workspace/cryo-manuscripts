
<file path=[Content_Types].xml><?xml version="1.0" encoding="utf-8"?>
<Types xmlns="http://schemas.openxmlformats.org/package/2006/content-types">
  <Default Extension="glb" ContentType="model/gltf.binary"/>
  <Default Extension="jpeg" ContentType="image/jpeg"/>
  <Default Extension="jp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82" r:id="rId2"/>
    <p:sldId id="256" r:id="rId3"/>
    <p:sldId id="260" r:id="rId4"/>
    <p:sldId id="275" r:id="rId5"/>
    <p:sldId id="263" r:id="rId6"/>
    <p:sldId id="274" r:id="rId7"/>
    <p:sldId id="277" r:id="rId8"/>
    <p:sldId id="278" r:id="rId9"/>
    <p:sldId id="280" r:id="rId10"/>
    <p:sldId id="265" r:id="rId11"/>
    <p:sldId id="266" r:id="rId12"/>
    <p:sldId id="273" r:id="rId13"/>
    <p:sldId id="269" r:id="rId14"/>
    <p:sldId id="281" r:id="rId15"/>
    <p:sldId id="279" r:id="rId16"/>
    <p:sldId id="271" r:id="rId17"/>
    <p:sldId id="272" r:id="rId1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C410"/>
    <a:srgbClr val="548235"/>
    <a:srgbClr val="0000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047" autoAdjust="0"/>
    <p:restoredTop sz="94660"/>
  </p:normalViewPr>
  <p:slideViewPr>
    <p:cSldViewPr snapToGrid="0">
      <p:cViewPr>
        <p:scale>
          <a:sx n="74" d="100"/>
          <a:sy n="74" d="100"/>
        </p:scale>
        <p:origin x="96" y="-40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E156F2-6B3D-0D8D-8547-61BC3136FF34}"/>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21F9934F-7FFA-79E1-38E8-913E75ED150B}"/>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727A6A24-1CCE-7D95-F8D5-A6F882CAD8CD}"/>
              </a:ext>
            </a:extLst>
          </p:cNvPr>
          <p:cNvSpPr>
            <a:spLocks noGrp="1"/>
          </p:cNvSpPr>
          <p:nvPr>
            <p:ph type="dt" sz="half" idx="10"/>
          </p:nvPr>
        </p:nvSpPr>
        <p:spPr/>
        <p:txBody>
          <a:bodyPr/>
          <a:lstStyle/>
          <a:p>
            <a:fld id="{F47B18ED-0B77-428E-9296-9967DE0F78B2}" type="datetimeFigureOut">
              <a:rPr lang="en-US" smtClean="0"/>
              <a:t>1/7/2026</a:t>
            </a:fld>
            <a:endParaRPr lang="en-US"/>
          </a:p>
        </p:txBody>
      </p:sp>
      <p:sp>
        <p:nvSpPr>
          <p:cNvPr id="5" name="Footer Placeholder 4">
            <a:extLst>
              <a:ext uri="{FF2B5EF4-FFF2-40B4-BE49-F238E27FC236}">
                <a16:creationId xmlns:a16="http://schemas.microsoft.com/office/drawing/2014/main" id="{51F9DA8D-A801-16F5-1D7A-DE234B90975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B4AE37B-AD72-63F6-CA1C-15CDAD0E803A}"/>
              </a:ext>
            </a:extLst>
          </p:cNvPr>
          <p:cNvSpPr>
            <a:spLocks noGrp="1"/>
          </p:cNvSpPr>
          <p:nvPr>
            <p:ph type="sldNum" sz="quarter" idx="12"/>
          </p:nvPr>
        </p:nvSpPr>
        <p:spPr/>
        <p:txBody>
          <a:bodyPr/>
          <a:lstStyle/>
          <a:p>
            <a:fld id="{030E17AE-3EE4-4CFD-86B6-C5508CFB92D9}" type="slidenum">
              <a:rPr lang="en-US" smtClean="0"/>
              <a:t>‹#›</a:t>
            </a:fld>
            <a:endParaRPr lang="en-US"/>
          </a:p>
        </p:txBody>
      </p:sp>
    </p:spTree>
    <p:extLst>
      <p:ext uri="{BB962C8B-B14F-4D97-AF65-F5344CB8AC3E}">
        <p14:creationId xmlns:p14="http://schemas.microsoft.com/office/powerpoint/2010/main" val="86542689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7CD7AE-9C5B-52C4-6015-262656124213}"/>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B5767D1B-470F-19BA-3533-A513C286A65D}"/>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451B655-4909-9A43-DA49-2B9CC5A84692}"/>
              </a:ext>
            </a:extLst>
          </p:cNvPr>
          <p:cNvSpPr>
            <a:spLocks noGrp="1"/>
          </p:cNvSpPr>
          <p:nvPr>
            <p:ph type="dt" sz="half" idx="10"/>
          </p:nvPr>
        </p:nvSpPr>
        <p:spPr/>
        <p:txBody>
          <a:bodyPr/>
          <a:lstStyle/>
          <a:p>
            <a:fld id="{F47B18ED-0B77-428E-9296-9967DE0F78B2}" type="datetimeFigureOut">
              <a:rPr lang="en-US" smtClean="0"/>
              <a:t>1/7/2026</a:t>
            </a:fld>
            <a:endParaRPr lang="en-US"/>
          </a:p>
        </p:txBody>
      </p:sp>
      <p:sp>
        <p:nvSpPr>
          <p:cNvPr id="5" name="Footer Placeholder 4">
            <a:extLst>
              <a:ext uri="{FF2B5EF4-FFF2-40B4-BE49-F238E27FC236}">
                <a16:creationId xmlns:a16="http://schemas.microsoft.com/office/drawing/2014/main" id="{47355041-7D17-EAE9-4C9C-DB6EB89579F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106B0B6-922A-1EC5-F74A-34D9051F39A2}"/>
              </a:ext>
            </a:extLst>
          </p:cNvPr>
          <p:cNvSpPr>
            <a:spLocks noGrp="1"/>
          </p:cNvSpPr>
          <p:nvPr>
            <p:ph type="sldNum" sz="quarter" idx="12"/>
          </p:nvPr>
        </p:nvSpPr>
        <p:spPr/>
        <p:txBody>
          <a:bodyPr/>
          <a:lstStyle/>
          <a:p>
            <a:fld id="{030E17AE-3EE4-4CFD-86B6-C5508CFB92D9}" type="slidenum">
              <a:rPr lang="en-US" smtClean="0"/>
              <a:t>‹#›</a:t>
            </a:fld>
            <a:endParaRPr lang="en-US"/>
          </a:p>
        </p:txBody>
      </p:sp>
    </p:spTree>
    <p:extLst>
      <p:ext uri="{BB962C8B-B14F-4D97-AF65-F5344CB8AC3E}">
        <p14:creationId xmlns:p14="http://schemas.microsoft.com/office/powerpoint/2010/main" val="112065571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C81839-128F-E760-38E3-9C696ABB3498}"/>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9961B0B5-7DB9-9C88-5F8F-CC8928E1990C}"/>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CA58F017-64E2-499E-C5D6-EBE336E4D957}"/>
              </a:ext>
            </a:extLst>
          </p:cNvPr>
          <p:cNvSpPr>
            <a:spLocks noGrp="1"/>
          </p:cNvSpPr>
          <p:nvPr>
            <p:ph type="dt" sz="half" idx="10"/>
          </p:nvPr>
        </p:nvSpPr>
        <p:spPr/>
        <p:txBody>
          <a:bodyPr/>
          <a:lstStyle/>
          <a:p>
            <a:fld id="{F47B18ED-0B77-428E-9296-9967DE0F78B2}" type="datetimeFigureOut">
              <a:rPr lang="en-US" smtClean="0"/>
              <a:t>1/7/2026</a:t>
            </a:fld>
            <a:endParaRPr lang="en-US"/>
          </a:p>
        </p:txBody>
      </p:sp>
      <p:sp>
        <p:nvSpPr>
          <p:cNvPr id="5" name="Footer Placeholder 4">
            <a:extLst>
              <a:ext uri="{FF2B5EF4-FFF2-40B4-BE49-F238E27FC236}">
                <a16:creationId xmlns:a16="http://schemas.microsoft.com/office/drawing/2014/main" id="{F453510C-06B8-C3F0-7005-1D05B2B439C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225D898-5F33-C4F3-04E8-922D407513C2}"/>
              </a:ext>
            </a:extLst>
          </p:cNvPr>
          <p:cNvSpPr>
            <a:spLocks noGrp="1"/>
          </p:cNvSpPr>
          <p:nvPr>
            <p:ph type="sldNum" sz="quarter" idx="12"/>
          </p:nvPr>
        </p:nvSpPr>
        <p:spPr/>
        <p:txBody>
          <a:bodyPr/>
          <a:lstStyle/>
          <a:p>
            <a:fld id="{030E17AE-3EE4-4CFD-86B6-C5508CFB92D9}" type="slidenum">
              <a:rPr lang="en-US" smtClean="0"/>
              <a:t>‹#›</a:t>
            </a:fld>
            <a:endParaRPr lang="en-US"/>
          </a:p>
        </p:txBody>
      </p:sp>
    </p:spTree>
    <p:extLst>
      <p:ext uri="{BB962C8B-B14F-4D97-AF65-F5344CB8AC3E}">
        <p14:creationId xmlns:p14="http://schemas.microsoft.com/office/powerpoint/2010/main" val="128258059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4A40A9-BECB-2F01-9D80-8106E2EEF119}"/>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29A3871E-D237-8145-B4E0-54415BCF679C}"/>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79B6260B-57F8-B9FC-7A86-33E47D5DF38E}"/>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906048C7-31DC-9A57-C657-ACC314C85C2B}"/>
              </a:ext>
            </a:extLst>
          </p:cNvPr>
          <p:cNvSpPr>
            <a:spLocks noGrp="1"/>
          </p:cNvSpPr>
          <p:nvPr>
            <p:ph type="dt" sz="half" idx="10"/>
          </p:nvPr>
        </p:nvSpPr>
        <p:spPr/>
        <p:txBody>
          <a:bodyPr/>
          <a:lstStyle/>
          <a:p>
            <a:fld id="{F47B18ED-0B77-428E-9296-9967DE0F78B2}" type="datetimeFigureOut">
              <a:rPr lang="en-US" smtClean="0"/>
              <a:t>1/7/2026</a:t>
            </a:fld>
            <a:endParaRPr lang="en-US"/>
          </a:p>
        </p:txBody>
      </p:sp>
      <p:sp>
        <p:nvSpPr>
          <p:cNvPr id="6" name="Footer Placeholder 5">
            <a:extLst>
              <a:ext uri="{FF2B5EF4-FFF2-40B4-BE49-F238E27FC236}">
                <a16:creationId xmlns:a16="http://schemas.microsoft.com/office/drawing/2014/main" id="{DD32264A-0D69-4E31-D358-02A44C438582}"/>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AE58C162-842A-FEA5-CC81-1CB096DA1170}"/>
              </a:ext>
            </a:extLst>
          </p:cNvPr>
          <p:cNvSpPr>
            <a:spLocks noGrp="1"/>
          </p:cNvSpPr>
          <p:nvPr>
            <p:ph type="sldNum" sz="quarter" idx="12"/>
          </p:nvPr>
        </p:nvSpPr>
        <p:spPr/>
        <p:txBody>
          <a:bodyPr/>
          <a:lstStyle/>
          <a:p>
            <a:fld id="{030E17AE-3EE4-4CFD-86B6-C5508CFB92D9}" type="slidenum">
              <a:rPr lang="en-US" smtClean="0"/>
              <a:t>‹#›</a:t>
            </a:fld>
            <a:endParaRPr lang="en-US"/>
          </a:p>
        </p:txBody>
      </p:sp>
    </p:spTree>
    <p:extLst>
      <p:ext uri="{BB962C8B-B14F-4D97-AF65-F5344CB8AC3E}">
        <p14:creationId xmlns:p14="http://schemas.microsoft.com/office/powerpoint/2010/main" val="90024645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3C7E02-E435-E06D-137C-19CA0942E461}"/>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D4C28E6D-A9F0-5A2D-ABB1-92BD3ED0B10B}"/>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54937698-AC22-F069-F7A3-9C5BF3FC19F5}"/>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B6F32CCF-C75E-13E4-96AB-5FB72F8EABE3}"/>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A1B5DDA0-E397-9B41-DD3B-E610B3805397}"/>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19E0CA88-B905-EB6D-FA46-6EB7041ACC76}"/>
              </a:ext>
            </a:extLst>
          </p:cNvPr>
          <p:cNvSpPr>
            <a:spLocks noGrp="1"/>
          </p:cNvSpPr>
          <p:nvPr>
            <p:ph type="dt" sz="half" idx="10"/>
          </p:nvPr>
        </p:nvSpPr>
        <p:spPr/>
        <p:txBody>
          <a:bodyPr/>
          <a:lstStyle/>
          <a:p>
            <a:fld id="{F47B18ED-0B77-428E-9296-9967DE0F78B2}" type="datetimeFigureOut">
              <a:rPr lang="en-US" smtClean="0"/>
              <a:t>1/7/2026</a:t>
            </a:fld>
            <a:endParaRPr lang="en-US"/>
          </a:p>
        </p:txBody>
      </p:sp>
      <p:sp>
        <p:nvSpPr>
          <p:cNvPr id="8" name="Footer Placeholder 7">
            <a:extLst>
              <a:ext uri="{FF2B5EF4-FFF2-40B4-BE49-F238E27FC236}">
                <a16:creationId xmlns:a16="http://schemas.microsoft.com/office/drawing/2014/main" id="{F180D2B3-CD2F-4FC9-BE61-D21D4D84DC67}"/>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0F452308-7A46-9DA0-8823-F31BDC7D97F6}"/>
              </a:ext>
            </a:extLst>
          </p:cNvPr>
          <p:cNvSpPr>
            <a:spLocks noGrp="1"/>
          </p:cNvSpPr>
          <p:nvPr>
            <p:ph type="sldNum" sz="quarter" idx="12"/>
          </p:nvPr>
        </p:nvSpPr>
        <p:spPr/>
        <p:txBody>
          <a:bodyPr/>
          <a:lstStyle/>
          <a:p>
            <a:fld id="{030E17AE-3EE4-4CFD-86B6-C5508CFB92D9}" type="slidenum">
              <a:rPr lang="en-US" smtClean="0"/>
              <a:t>‹#›</a:t>
            </a:fld>
            <a:endParaRPr lang="en-US"/>
          </a:p>
        </p:txBody>
      </p:sp>
    </p:spTree>
    <p:extLst>
      <p:ext uri="{BB962C8B-B14F-4D97-AF65-F5344CB8AC3E}">
        <p14:creationId xmlns:p14="http://schemas.microsoft.com/office/powerpoint/2010/main" val="64082050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C2A5C8-A686-3B14-81BB-C1F254D6A293}"/>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57E5E1F8-5A48-C330-E15C-1EFFD51F36EE}"/>
              </a:ext>
            </a:extLst>
          </p:cNvPr>
          <p:cNvSpPr>
            <a:spLocks noGrp="1"/>
          </p:cNvSpPr>
          <p:nvPr>
            <p:ph type="dt" sz="half" idx="10"/>
          </p:nvPr>
        </p:nvSpPr>
        <p:spPr/>
        <p:txBody>
          <a:bodyPr/>
          <a:lstStyle/>
          <a:p>
            <a:fld id="{F47B18ED-0B77-428E-9296-9967DE0F78B2}" type="datetimeFigureOut">
              <a:rPr lang="en-US" smtClean="0"/>
              <a:t>1/7/2026</a:t>
            </a:fld>
            <a:endParaRPr lang="en-US"/>
          </a:p>
        </p:txBody>
      </p:sp>
      <p:sp>
        <p:nvSpPr>
          <p:cNvPr id="4" name="Footer Placeholder 3">
            <a:extLst>
              <a:ext uri="{FF2B5EF4-FFF2-40B4-BE49-F238E27FC236}">
                <a16:creationId xmlns:a16="http://schemas.microsoft.com/office/drawing/2014/main" id="{739A4F24-5C84-8F64-8D8D-9F992BBE66A7}"/>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31F8C8C0-26D3-E265-F317-15BC3E0A50EA}"/>
              </a:ext>
            </a:extLst>
          </p:cNvPr>
          <p:cNvSpPr>
            <a:spLocks noGrp="1"/>
          </p:cNvSpPr>
          <p:nvPr>
            <p:ph type="sldNum" sz="quarter" idx="12"/>
          </p:nvPr>
        </p:nvSpPr>
        <p:spPr/>
        <p:txBody>
          <a:bodyPr/>
          <a:lstStyle/>
          <a:p>
            <a:fld id="{030E17AE-3EE4-4CFD-86B6-C5508CFB92D9}" type="slidenum">
              <a:rPr lang="en-US" smtClean="0"/>
              <a:t>‹#›</a:t>
            </a:fld>
            <a:endParaRPr lang="en-US"/>
          </a:p>
        </p:txBody>
      </p:sp>
    </p:spTree>
    <p:extLst>
      <p:ext uri="{BB962C8B-B14F-4D97-AF65-F5344CB8AC3E}">
        <p14:creationId xmlns:p14="http://schemas.microsoft.com/office/powerpoint/2010/main" val="305051636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9547FE6C-482A-28D3-8142-8541F629A5CD}"/>
              </a:ext>
            </a:extLst>
          </p:cNvPr>
          <p:cNvSpPr>
            <a:spLocks noGrp="1"/>
          </p:cNvSpPr>
          <p:nvPr>
            <p:ph type="dt" sz="half" idx="10"/>
          </p:nvPr>
        </p:nvSpPr>
        <p:spPr/>
        <p:txBody>
          <a:bodyPr/>
          <a:lstStyle/>
          <a:p>
            <a:fld id="{F47B18ED-0B77-428E-9296-9967DE0F78B2}" type="datetimeFigureOut">
              <a:rPr lang="en-US" smtClean="0"/>
              <a:t>1/7/2026</a:t>
            </a:fld>
            <a:endParaRPr lang="en-US"/>
          </a:p>
        </p:txBody>
      </p:sp>
      <p:sp>
        <p:nvSpPr>
          <p:cNvPr id="3" name="Footer Placeholder 2">
            <a:extLst>
              <a:ext uri="{FF2B5EF4-FFF2-40B4-BE49-F238E27FC236}">
                <a16:creationId xmlns:a16="http://schemas.microsoft.com/office/drawing/2014/main" id="{BDA015CB-4B38-A6FE-9A80-87F118C226BF}"/>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64AFE1D0-D904-24F0-C814-8A79B5B21D93}"/>
              </a:ext>
            </a:extLst>
          </p:cNvPr>
          <p:cNvSpPr>
            <a:spLocks noGrp="1"/>
          </p:cNvSpPr>
          <p:nvPr>
            <p:ph type="sldNum" sz="quarter" idx="12"/>
          </p:nvPr>
        </p:nvSpPr>
        <p:spPr/>
        <p:txBody>
          <a:bodyPr/>
          <a:lstStyle/>
          <a:p>
            <a:fld id="{030E17AE-3EE4-4CFD-86B6-C5508CFB92D9}" type="slidenum">
              <a:rPr lang="en-US" smtClean="0"/>
              <a:t>‹#›</a:t>
            </a:fld>
            <a:endParaRPr lang="en-US"/>
          </a:p>
        </p:txBody>
      </p:sp>
    </p:spTree>
    <p:extLst>
      <p:ext uri="{BB962C8B-B14F-4D97-AF65-F5344CB8AC3E}">
        <p14:creationId xmlns:p14="http://schemas.microsoft.com/office/powerpoint/2010/main" val="208620399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C7DB84-9A85-E07D-A65E-67ED322FF8D3}"/>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55ADB5C8-26AE-C583-43F8-82BBA7E9B023}"/>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AEA56553-65DB-1327-AE29-A5987C0BB5B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108433C-B7DB-8F51-E8C8-1E38EDBEDF40}"/>
              </a:ext>
            </a:extLst>
          </p:cNvPr>
          <p:cNvSpPr>
            <a:spLocks noGrp="1"/>
          </p:cNvSpPr>
          <p:nvPr>
            <p:ph type="dt" sz="half" idx="10"/>
          </p:nvPr>
        </p:nvSpPr>
        <p:spPr/>
        <p:txBody>
          <a:bodyPr/>
          <a:lstStyle/>
          <a:p>
            <a:fld id="{F47B18ED-0B77-428E-9296-9967DE0F78B2}" type="datetimeFigureOut">
              <a:rPr lang="en-US" smtClean="0"/>
              <a:t>1/7/2026</a:t>
            </a:fld>
            <a:endParaRPr lang="en-US"/>
          </a:p>
        </p:txBody>
      </p:sp>
      <p:sp>
        <p:nvSpPr>
          <p:cNvPr id="6" name="Footer Placeholder 5">
            <a:extLst>
              <a:ext uri="{FF2B5EF4-FFF2-40B4-BE49-F238E27FC236}">
                <a16:creationId xmlns:a16="http://schemas.microsoft.com/office/drawing/2014/main" id="{5D28C583-65C9-5DE0-6FEF-1C662C8F44DC}"/>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7092C2CE-0EB3-F340-2CDD-F0BD6E3FC353}"/>
              </a:ext>
            </a:extLst>
          </p:cNvPr>
          <p:cNvSpPr>
            <a:spLocks noGrp="1"/>
          </p:cNvSpPr>
          <p:nvPr>
            <p:ph type="sldNum" sz="quarter" idx="12"/>
          </p:nvPr>
        </p:nvSpPr>
        <p:spPr/>
        <p:txBody>
          <a:bodyPr/>
          <a:lstStyle/>
          <a:p>
            <a:fld id="{030E17AE-3EE4-4CFD-86B6-C5508CFB92D9}" type="slidenum">
              <a:rPr lang="en-US" smtClean="0"/>
              <a:t>‹#›</a:t>
            </a:fld>
            <a:endParaRPr lang="en-US"/>
          </a:p>
        </p:txBody>
      </p:sp>
    </p:spTree>
    <p:extLst>
      <p:ext uri="{BB962C8B-B14F-4D97-AF65-F5344CB8AC3E}">
        <p14:creationId xmlns:p14="http://schemas.microsoft.com/office/powerpoint/2010/main" val="19155984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CDD359-7A6E-F0F2-998F-EA3EF8D7B8B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386ADBFE-C684-B4DB-8364-E4F0533320A1}"/>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D3EE314D-1B86-68A8-2601-E0C22A5C110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4CDDB67E-8F2E-9BDC-F023-C323B4B2E869}"/>
              </a:ext>
            </a:extLst>
          </p:cNvPr>
          <p:cNvSpPr>
            <a:spLocks noGrp="1"/>
          </p:cNvSpPr>
          <p:nvPr>
            <p:ph type="dt" sz="half" idx="10"/>
          </p:nvPr>
        </p:nvSpPr>
        <p:spPr/>
        <p:txBody>
          <a:bodyPr/>
          <a:lstStyle/>
          <a:p>
            <a:fld id="{F47B18ED-0B77-428E-9296-9967DE0F78B2}" type="datetimeFigureOut">
              <a:rPr lang="en-US" smtClean="0"/>
              <a:t>1/7/2026</a:t>
            </a:fld>
            <a:endParaRPr lang="en-US"/>
          </a:p>
        </p:txBody>
      </p:sp>
      <p:sp>
        <p:nvSpPr>
          <p:cNvPr id="6" name="Footer Placeholder 5">
            <a:extLst>
              <a:ext uri="{FF2B5EF4-FFF2-40B4-BE49-F238E27FC236}">
                <a16:creationId xmlns:a16="http://schemas.microsoft.com/office/drawing/2014/main" id="{E917165B-30E7-FE36-BBE4-DEA489C0EE91}"/>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F50E06FF-D251-1E63-8888-61020D21D330}"/>
              </a:ext>
            </a:extLst>
          </p:cNvPr>
          <p:cNvSpPr>
            <a:spLocks noGrp="1"/>
          </p:cNvSpPr>
          <p:nvPr>
            <p:ph type="sldNum" sz="quarter" idx="12"/>
          </p:nvPr>
        </p:nvSpPr>
        <p:spPr/>
        <p:txBody>
          <a:bodyPr/>
          <a:lstStyle/>
          <a:p>
            <a:fld id="{030E17AE-3EE4-4CFD-86B6-C5508CFB92D9}" type="slidenum">
              <a:rPr lang="en-US" smtClean="0"/>
              <a:t>‹#›</a:t>
            </a:fld>
            <a:endParaRPr lang="en-US"/>
          </a:p>
        </p:txBody>
      </p:sp>
    </p:spTree>
    <p:extLst>
      <p:ext uri="{BB962C8B-B14F-4D97-AF65-F5344CB8AC3E}">
        <p14:creationId xmlns:p14="http://schemas.microsoft.com/office/powerpoint/2010/main" val="151088763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2262D8-AD67-E714-248E-C95D25842A88}"/>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CE2DFCBD-754A-0193-004C-EA0B28DB1FE5}"/>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3902433-D7A5-59A4-DDDF-03D0F6FB8415}"/>
              </a:ext>
            </a:extLst>
          </p:cNvPr>
          <p:cNvSpPr>
            <a:spLocks noGrp="1"/>
          </p:cNvSpPr>
          <p:nvPr>
            <p:ph type="dt" sz="half" idx="10"/>
          </p:nvPr>
        </p:nvSpPr>
        <p:spPr/>
        <p:txBody>
          <a:bodyPr/>
          <a:lstStyle/>
          <a:p>
            <a:fld id="{F47B18ED-0B77-428E-9296-9967DE0F78B2}" type="datetimeFigureOut">
              <a:rPr lang="en-US" smtClean="0"/>
              <a:t>1/7/2026</a:t>
            </a:fld>
            <a:endParaRPr lang="en-US"/>
          </a:p>
        </p:txBody>
      </p:sp>
      <p:sp>
        <p:nvSpPr>
          <p:cNvPr id="5" name="Footer Placeholder 4">
            <a:extLst>
              <a:ext uri="{FF2B5EF4-FFF2-40B4-BE49-F238E27FC236}">
                <a16:creationId xmlns:a16="http://schemas.microsoft.com/office/drawing/2014/main" id="{5C141AB1-9A0A-5DD4-A5FB-D348E471EDA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75749B3-5C07-BEE8-C2FA-8CEE5C3CAF42}"/>
              </a:ext>
            </a:extLst>
          </p:cNvPr>
          <p:cNvSpPr>
            <a:spLocks noGrp="1"/>
          </p:cNvSpPr>
          <p:nvPr>
            <p:ph type="sldNum" sz="quarter" idx="12"/>
          </p:nvPr>
        </p:nvSpPr>
        <p:spPr/>
        <p:txBody>
          <a:bodyPr/>
          <a:lstStyle/>
          <a:p>
            <a:fld id="{030E17AE-3EE4-4CFD-86B6-C5508CFB92D9}" type="slidenum">
              <a:rPr lang="en-US" smtClean="0"/>
              <a:t>‹#›</a:t>
            </a:fld>
            <a:endParaRPr lang="en-US"/>
          </a:p>
        </p:txBody>
      </p:sp>
    </p:spTree>
    <p:extLst>
      <p:ext uri="{BB962C8B-B14F-4D97-AF65-F5344CB8AC3E}">
        <p14:creationId xmlns:p14="http://schemas.microsoft.com/office/powerpoint/2010/main" val="425904665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B79A9E74-EEEE-B959-8081-B0FA6E2B45EF}"/>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CA2BEFBE-3709-0421-2687-EC25DEC72DBC}"/>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901DB33-3A8F-3B77-C527-48F9AEF60D86}"/>
              </a:ext>
            </a:extLst>
          </p:cNvPr>
          <p:cNvSpPr>
            <a:spLocks noGrp="1"/>
          </p:cNvSpPr>
          <p:nvPr>
            <p:ph type="dt" sz="half" idx="10"/>
          </p:nvPr>
        </p:nvSpPr>
        <p:spPr/>
        <p:txBody>
          <a:bodyPr/>
          <a:lstStyle/>
          <a:p>
            <a:fld id="{F47B18ED-0B77-428E-9296-9967DE0F78B2}" type="datetimeFigureOut">
              <a:rPr lang="en-US" smtClean="0"/>
              <a:t>1/7/2026</a:t>
            </a:fld>
            <a:endParaRPr lang="en-US"/>
          </a:p>
        </p:txBody>
      </p:sp>
      <p:sp>
        <p:nvSpPr>
          <p:cNvPr id="5" name="Footer Placeholder 4">
            <a:extLst>
              <a:ext uri="{FF2B5EF4-FFF2-40B4-BE49-F238E27FC236}">
                <a16:creationId xmlns:a16="http://schemas.microsoft.com/office/drawing/2014/main" id="{9CF68E55-2C5C-05BB-6BA6-FE514A83122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4228161-A4F1-095E-393A-C7C0A0B13C06}"/>
              </a:ext>
            </a:extLst>
          </p:cNvPr>
          <p:cNvSpPr>
            <a:spLocks noGrp="1"/>
          </p:cNvSpPr>
          <p:nvPr>
            <p:ph type="sldNum" sz="quarter" idx="12"/>
          </p:nvPr>
        </p:nvSpPr>
        <p:spPr/>
        <p:txBody>
          <a:bodyPr/>
          <a:lstStyle/>
          <a:p>
            <a:fld id="{030E17AE-3EE4-4CFD-86B6-C5508CFB92D9}" type="slidenum">
              <a:rPr lang="en-US" smtClean="0"/>
              <a:t>‹#›</a:t>
            </a:fld>
            <a:endParaRPr lang="en-US"/>
          </a:p>
        </p:txBody>
      </p:sp>
    </p:spTree>
    <p:extLst>
      <p:ext uri="{BB962C8B-B14F-4D97-AF65-F5344CB8AC3E}">
        <p14:creationId xmlns:p14="http://schemas.microsoft.com/office/powerpoint/2010/main" val="421914636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cSld name="DEFAULT">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11719864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89AA0B3A-905B-292C-CDAE-03A3AD7D8B29}"/>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AB383154-4940-486C-EEE3-BB0703EAAA1D}"/>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F8B5B5A-7803-B9E1-A77F-B7477FB63DBE}"/>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F47B18ED-0B77-428E-9296-9967DE0F78B2}" type="datetimeFigureOut">
              <a:rPr lang="en-US" smtClean="0"/>
              <a:t>1/7/2026</a:t>
            </a:fld>
            <a:endParaRPr lang="en-US"/>
          </a:p>
        </p:txBody>
      </p:sp>
      <p:sp>
        <p:nvSpPr>
          <p:cNvPr id="5" name="Footer Placeholder 4">
            <a:extLst>
              <a:ext uri="{FF2B5EF4-FFF2-40B4-BE49-F238E27FC236}">
                <a16:creationId xmlns:a16="http://schemas.microsoft.com/office/drawing/2014/main" id="{1EF30B41-DEB0-8FF1-ACBE-08CBE89D0660}"/>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89047030-4FAC-7890-784A-BB814DEA7A17}"/>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30E17AE-3EE4-4CFD-86B6-C5508CFB92D9}" type="slidenum">
              <a:rPr lang="en-US" smtClean="0"/>
              <a:t>‹#›</a:t>
            </a:fld>
            <a:endParaRPr lang="en-US"/>
          </a:p>
        </p:txBody>
      </p:sp>
    </p:spTree>
    <p:extLst>
      <p:ext uri="{BB962C8B-B14F-4D97-AF65-F5344CB8AC3E}">
        <p14:creationId xmlns:p14="http://schemas.microsoft.com/office/powerpoint/2010/main" val="312545148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6.xml"/><Relationship Id="rId6" Type="http://schemas.microsoft.com/office/2007/relationships/hdphoto" Target="../media/hdphoto1.wdp"/><Relationship Id="rId5" Type="http://schemas.openxmlformats.org/officeDocument/2006/relationships/image" Target="../media/image7.png"/><Relationship Id="rId4" Type="http://schemas.openxmlformats.org/officeDocument/2006/relationships/image" Target="../media/image4.jpg"/></Relationships>
</file>

<file path=ppt/slides/_rels/slide7.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8" Type="http://schemas.openxmlformats.org/officeDocument/2006/relationships/image" Target="../media/image15.png"/><Relationship Id="rId3" Type="http://schemas.openxmlformats.org/officeDocument/2006/relationships/image" Target="../media/image10.png"/><Relationship Id="rId7" Type="http://schemas.openxmlformats.org/officeDocument/2006/relationships/image" Target="../media/image14.png"/><Relationship Id="rId2" Type="http://schemas.openxmlformats.org/officeDocument/2006/relationships/image" Target="../media/image9.png"/><Relationship Id="rId1" Type="http://schemas.openxmlformats.org/officeDocument/2006/relationships/slideLayout" Target="../slideLayouts/slideLayout6.xml"/><Relationship Id="rId6" Type="http://schemas.openxmlformats.org/officeDocument/2006/relationships/image" Target="../media/image13.png"/><Relationship Id="rId5" Type="http://schemas.openxmlformats.org/officeDocument/2006/relationships/image" Target="../media/image12.png"/><Relationship Id="rId4" Type="http://schemas.openxmlformats.org/officeDocument/2006/relationships/image" Target="../media/image11.png"/><Relationship Id="rId9" Type="http://schemas.openxmlformats.org/officeDocument/2006/relationships/image" Target="../media/image16.png"/></Relationships>
</file>

<file path=ppt/slides/_rels/slide9.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0.png"/><Relationship Id="rId1" Type="http://schemas.openxmlformats.org/officeDocument/2006/relationships/slideLayout" Target="../slideLayouts/slideLayout4.xml"/><Relationship Id="rId4" Type="http://schemas.openxmlformats.org/officeDocument/2006/relationships/image" Target="../media/image21.png"/></Relationships>
</file>

<file path=ppt/slides/_rels/slide13.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24.png"/><Relationship Id="rId7" Type="http://schemas.openxmlformats.org/officeDocument/2006/relationships/image" Target="../media/image26.png"/><Relationship Id="rId2" Type="http://schemas.microsoft.com/office/2017/06/relationships/model3d" Target="../media/model3d1.glb"/><Relationship Id="rId1" Type="http://schemas.openxmlformats.org/officeDocument/2006/relationships/slideLayout" Target="../slideLayouts/slideLayout6.xml"/><Relationship Id="rId6" Type="http://schemas.microsoft.com/office/2017/06/relationships/model3d" Target="../media/model3d3.glb"/><Relationship Id="rId5" Type="http://schemas.openxmlformats.org/officeDocument/2006/relationships/image" Target="../media/image25.png"/><Relationship Id="rId4" Type="http://schemas.microsoft.com/office/2017/06/relationships/model3d" Target="../media/model3d2.glb"/></Relationships>
</file>

<file path=ppt/slides/_rels/slide16.xml.rels><?xml version="1.0" encoding="UTF-8" standalone="yes"?>
<Relationships xmlns="http://schemas.openxmlformats.org/package/2006/relationships"><Relationship Id="rId2" Type="http://schemas.openxmlformats.org/officeDocument/2006/relationships/image" Target="../media/image27.jpg"/><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2" Type="http://schemas.openxmlformats.org/officeDocument/2006/relationships/image" Target="../media/image28.jpeg"/><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a:extLst>
              <a:ext uri="{FF2B5EF4-FFF2-40B4-BE49-F238E27FC236}">
                <a16:creationId xmlns:a16="http://schemas.microsoft.com/office/drawing/2014/main" id="{E7082501-6DDA-0EE3-6A6F-BFDF7B6C8642}"/>
              </a:ext>
            </a:extLst>
          </p:cNvPr>
          <p:cNvSpPr txBox="1">
            <a:spLocks/>
          </p:cNvSpPr>
          <p:nvPr/>
        </p:nvSpPr>
        <p:spPr>
          <a:xfrm>
            <a:off x="-173655" y="174663"/>
            <a:ext cx="12309508" cy="1141338"/>
          </a:xfrm>
          <a:prstGeom prst="rect">
            <a:avLst/>
          </a:prstGeom>
        </p:spPr>
        <p:txBody>
          <a:bodyPr vert="horz" wrap="square" lIns="0" tIns="12700" rIns="0" bIns="0" rtlCol="0">
            <a:spAutoFit/>
          </a:bodyPr>
          <a:lst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a:lstStyle>
          <a:p>
            <a:pPr marL="5080" algn="ctr">
              <a:lnSpc>
                <a:spcPts val="2865"/>
              </a:lnSpc>
              <a:spcBef>
                <a:spcPts val="100"/>
              </a:spcBef>
            </a:pPr>
            <a:r>
              <a:rPr lang="en-US" sz="3200" dirty="0">
                <a:solidFill>
                  <a:schemeClr val="tx1"/>
                </a:solidFill>
                <a:latin typeface="Times New Roman" panose="02020603050405020304" pitchFamily="18" charset="0"/>
                <a:cs typeface="Times New Roman" panose="02020603050405020304" pitchFamily="18" charset="0"/>
              </a:rPr>
              <a:t>Faculty</a:t>
            </a:r>
            <a:r>
              <a:rPr lang="en-US" sz="3200" spc="-35" dirty="0">
                <a:solidFill>
                  <a:schemeClr val="tx1"/>
                </a:solidFill>
                <a:latin typeface="Times New Roman" panose="02020603050405020304" pitchFamily="18" charset="0"/>
                <a:cs typeface="Times New Roman" panose="02020603050405020304" pitchFamily="18" charset="0"/>
              </a:rPr>
              <a:t> </a:t>
            </a:r>
            <a:r>
              <a:rPr lang="en-US" sz="3200" dirty="0">
                <a:solidFill>
                  <a:schemeClr val="tx1"/>
                </a:solidFill>
                <a:latin typeface="Times New Roman" panose="02020603050405020304" pitchFamily="18" charset="0"/>
                <a:cs typeface="Times New Roman" panose="02020603050405020304" pitchFamily="18" charset="0"/>
              </a:rPr>
              <a:t>of</a:t>
            </a:r>
            <a:r>
              <a:rPr lang="en-US" sz="3200" spc="-15" dirty="0">
                <a:solidFill>
                  <a:schemeClr val="tx1"/>
                </a:solidFill>
                <a:latin typeface="Times New Roman" panose="02020603050405020304" pitchFamily="18" charset="0"/>
                <a:cs typeface="Times New Roman" panose="02020603050405020304" pitchFamily="18" charset="0"/>
              </a:rPr>
              <a:t> </a:t>
            </a:r>
            <a:r>
              <a:rPr lang="en-US" sz="3200" dirty="0">
                <a:solidFill>
                  <a:schemeClr val="tx1"/>
                </a:solidFill>
                <a:latin typeface="Times New Roman" panose="02020603050405020304" pitchFamily="18" charset="0"/>
                <a:cs typeface="Times New Roman" panose="02020603050405020304" pitchFamily="18" charset="0"/>
              </a:rPr>
              <a:t>Engineering</a:t>
            </a:r>
            <a:r>
              <a:rPr lang="en-US" sz="3200" spc="-30" dirty="0">
                <a:solidFill>
                  <a:schemeClr val="tx1"/>
                </a:solidFill>
                <a:latin typeface="Times New Roman" panose="02020603050405020304" pitchFamily="18" charset="0"/>
                <a:cs typeface="Times New Roman" panose="02020603050405020304" pitchFamily="18" charset="0"/>
              </a:rPr>
              <a:t> </a:t>
            </a:r>
            <a:r>
              <a:rPr lang="en-US" sz="3200" dirty="0">
                <a:solidFill>
                  <a:schemeClr val="tx1"/>
                </a:solidFill>
                <a:latin typeface="Times New Roman" panose="02020603050405020304" pitchFamily="18" charset="0"/>
                <a:cs typeface="Times New Roman" panose="02020603050405020304" pitchFamily="18" charset="0"/>
              </a:rPr>
              <a:t>&amp;</a:t>
            </a:r>
            <a:r>
              <a:rPr lang="en-US" sz="3200" spc="-80" dirty="0">
                <a:solidFill>
                  <a:schemeClr val="tx1"/>
                </a:solidFill>
                <a:latin typeface="Times New Roman" panose="02020603050405020304" pitchFamily="18" charset="0"/>
                <a:cs typeface="Times New Roman" panose="02020603050405020304" pitchFamily="18" charset="0"/>
              </a:rPr>
              <a:t> </a:t>
            </a:r>
            <a:r>
              <a:rPr lang="en-US" sz="3200" spc="-35" dirty="0">
                <a:solidFill>
                  <a:schemeClr val="tx1"/>
                </a:solidFill>
                <a:latin typeface="Times New Roman" panose="02020603050405020304" pitchFamily="18" charset="0"/>
                <a:cs typeface="Times New Roman" panose="02020603050405020304" pitchFamily="18" charset="0"/>
              </a:rPr>
              <a:t>Technology, </a:t>
            </a:r>
            <a:r>
              <a:rPr lang="en-US" sz="3200" dirty="0">
                <a:solidFill>
                  <a:schemeClr val="tx1"/>
                </a:solidFill>
                <a:latin typeface="Times New Roman" panose="02020603050405020304" pitchFamily="18" charset="0"/>
                <a:cs typeface="Times New Roman" panose="02020603050405020304" pitchFamily="18" charset="0"/>
              </a:rPr>
              <a:t>University</a:t>
            </a:r>
            <a:r>
              <a:rPr lang="en-US" sz="3200" spc="-30" dirty="0">
                <a:solidFill>
                  <a:schemeClr val="tx1"/>
                </a:solidFill>
                <a:latin typeface="Times New Roman" panose="02020603050405020304" pitchFamily="18" charset="0"/>
                <a:cs typeface="Times New Roman" panose="02020603050405020304" pitchFamily="18" charset="0"/>
              </a:rPr>
              <a:t> </a:t>
            </a:r>
            <a:r>
              <a:rPr lang="en-US" sz="3200" dirty="0">
                <a:solidFill>
                  <a:schemeClr val="tx1"/>
                </a:solidFill>
                <a:latin typeface="Times New Roman" panose="02020603050405020304" pitchFamily="18" charset="0"/>
                <a:cs typeface="Times New Roman" panose="02020603050405020304" pitchFamily="18" charset="0"/>
              </a:rPr>
              <a:t>of</a:t>
            </a:r>
            <a:r>
              <a:rPr lang="en-US" sz="3200" spc="-15" dirty="0">
                <a:solidFill>
                  <a:schemeClr val="tx1"/>
                </a:solidFill>
                <a:latin typeface="Times New Roman" panose="02020603050405020304" pitchFamily="18" charset="0"/>
                <a:cs typeface="Times New Roman" panose="02020603050405020304" pitchFamily="18" charset="0"/>
              </a:rPr>
              <a:t> </a:t>
            </a:r>
            <a:r>
              <a:rPr lang="en-US" sz="3600" spc="-10" dirty="0">
                <a:solidFill>
                  <a:schemeClr val="tx1"/>
                </a:solidFill>
                <a:latin typeface="Times New Roman" panose="02020603050405020304" pitchFamily="18" charset="0"/>
                <a:cs typeface="Times New Roman" panose="02020603050405020304" pitchFamily="18" charset="0"/>
              </a:rPr>
              <a:t>Lucknow</a:t>
            </a:r>
          </a:p>
          <a:p>
            <a:pPr marL="5080" algn="ctr">
              <a:lnSpc>
                <a:spcPts val="2865"/>
              </a:lnSpc>
              <a:spcBef>
                <a:spcPts val="100"/>
              </a:spcBef>
            </a:pPr>
            <a:endParaRPr lang="en-US" sz="3200" spc="-10" dirty="0"/>
          </a:p>
          <a:p>
            <a:pPr marL="13970" algn="ctr">
              <a:lnSpc>
                <a:spcPts val="2865"/>
              </a:lnSpc>
            </a:pPr>
            <a:r>
              <a:rPr lang="en-US" sz="2800" dirty="0">
                <a:solidFill>
                  <a:schemeClr val="tx1"/>
                </a:solidFill>
                <a:uFill>
                  <a:solidFill>
                    <a:srgbClr val="000000"/>
                  </a:solidFill>
                </a:uFill>
                <a:latin typeface="Times New Roman"/>
                <a:cs typeface="Times New Roman"/>
              </a:rPr>
              <a:t>Department</a:t>
            </a:r>
            <a:r>
              <a:rPr lang="en-US" sz="2800" spc="-15" dirty="0">
                <a:solidFill>
                  <a:schemeClr val="tx1"/>
                </a:solidFill>
                <a:uFill>
                  <a:solidFill>
                    <a:srgbClr val="000000"/>
                  </a:solidFill>
                </a:uFill>
                <a:latin typeface="Times New Roman"/>
                <a:cs typeface="Times New Roman"/>
              </a:rPr>
              <a:t> </a:t>
            </a:r>
            <a:r>
              <a:rPr lang="en-US" sz="2800" dirty="0">
                <a:solidFill>
                  <a:schemeClr val="tx1"/>
                </a:solidFill>
                <a:uFill>
                  <a:solidFill>
                    <a:srgbClr val="000000"/>
                  </a:solidFill>
                </a:uFill>
                <a:latin typeface="Times New Roman"/>
                <a:cs typeface="Times New Roman"/>
              </a:rPr>
              <a:t>of</a:t>
            </a:r>
            <a:r>
              <a:rPr lang="en-US" sz="2800" spc="10" dirty="0">
                <a:solidFill>
                  <a:schemeClr val="tx1"/>
                </a:solidFill>
                <a:uFill>
                  <a:solidFill>
                    <a:srgbClr val="000000"/>
                  </a:solidFill>
                </a:uFill>
                <a:latin typeface="Times New Roman"/>
                <a:cs typeface="Times New Roman"/>
              </a:rPr>
              <a:t> </a:t>
            </a:r>
            <a:r>
              <a:rPr lang="en-US" sz="2800" dirty="0">
                <a:solidFill>
                  <a:schemeClr val="tx1"/>
                </a:solidFill>
                <a:uFill>
                  <a:solidFill>
                    <a:srgbClr val="000000"/>
                  </a:solidFill>
                </a:uFill>
                <a:latin typeface="Times New Roman"/>
                <a:cs typeface="Times New Roman"/>
              </a:rPr>
              <a:t>Mechanical</a:t>
            </a:r>
            <a:r>
              <a:rPr lang="en-US" sz="2800" spc="-75" dirty="0">
                <a:solidFill>
                  <a:schemeClr val="tx1"/>
                </a:solidFill>
                <a:uFill>
                  <a:solidFill>
                    <a:srgbClr val="000000"/>
                  </a:solidFill>
                </a:uFill>
                <a:latin typeface="Times New Roman"/>
                <a:cs typeface="Times New Roman"/>
              </a:rPr>
              <a:t> </a:t>
            </a:r>
            <a:r>
              <a:rPr lang="en-US" sz="2800" spc="-10" dirty="0">
                <a:solidFill>
                  <a:schemeClr val="tx1"/>
                </a:solidFill>
                <a:uFill>
                  <a:solidFill>
                    <a:srgbClr val="000000"/>
                  </a:solidFill>
                </a:uFill>
                <a:latin typeface="Times New Roman"/>
                <a:cs typeface="Times New Roman"/>
              </a:rPr>
              <a:t>Engineering</a:t>
            </a:r>
          </a:p>
        </p:txBody>
      </p:sp>
      <p:sp>
        <p:nvSpPr>
          <p:cNvPr id="3" name="object 3">
            <a:extLst>
              <a:ext uri="{FF2B5EF4-FFF2-40B4-BE49-F238E27FC236}">
                <a16:creationId xmlns:a16="http://schemas.microsoft.com/office/drawing/2014/main" id="{D8F67320-FB4D-B953-758B-ABB39E5B7C0B}"/>
              </a:ext>
            </a:extLst>
          </p:cNvPr>
          <p:cNvSpPr txBox="1"/>
          <p:nvPr/>
        </p:nvSpPr>
        <p:spPr>
          <a:xfrm>
            <a:off x="731307" y="2767009"/>
            <a:ext cx="10368602" cy="1474763"/>
          </a:xfrm>
          <a:prstGeom prst="rect">
            <a:avLst/>
          </a:prstGeom>
        </p:spPr>
        <p:txBody>
          <a:bodyPr vert="horz" wrap="square" lIns="0" tIns="12700" rIns="0" bIns="0" rtlCol="0">
            <a:spAutoFit/>
          </a:bodyPr>
          <a:lstStyle/>
          <a:p>
            <a:pPr marR="120650" algn="ctr">
              <a:lnSpc>
                <a:spcPct val="100000"/>
              </a:lnSpc>
              <a:spcBef>
                <a:spcPts val="100"/>
              </a:spcBef>
            </a:pPr>
            <a:r>
              <a:rPr lang="en-US" spc="-5" dirty="0">
                <a:latin typeface="Times New Roman" pitchFamily="18" charset="0"/>
                <a:cs typeface="Times New Roman" pitchFamily="18" charset="0"/>
              </a:rPr>
              <a:t>MAJOR PROJECT</a:t>
            </a:r>
            <a:r>
              <a:rPr spc="-5" dirty="0">
                <a:latin typeface="Times New Roman" pitchFamily="18" charset="0"/>
                <a:cs typeface="Times New Roman" pitchFamily="18" charset="0"/>
              </a:rPr>
              <a:t> </a:t>
            </a:r>
            <a:r>
              <a:rPr spc="-10" dirty="0">
                <a:latin typeface="Times New Roman" pitchFamily="18" charset="0"/>
                <a:cs typeface="Times New Roman" pitchFamily="18" charset="0"/>
              </a:rPr>
              <a:t>PRESENTATION</a:t>
            </a:r>
            <a:endParaRPr dirty="0">
              <a:latin typeface="Times New Roman" pitchFamily="18" charset="0"/>
              <a:cs typeface="Times New Roman" pitchFamily="18" charset="0"/>
            </a:endParaRPr>
          </a:p>
          <a:p>
            <a:pPr marR="114300" algn="ctr">
              <a:lnSpc>
                <a:spcPct val="100000"/>
              </a:lnSpc>
              <a:spcBef>
                <a:spcPts val="20"/>
              </a:spcBef>
            </a:pPr>
            <a:r>
              <a:rPr spc="-25" dirty="0">
                <a:latin typeface="Times New Roman" pitchFamily="18" charset="0"/>
                <a:cs typeface="Times New Roman" pitchFamily="18" charset="0"/>
              </a:rPr>
              <a:t>on</a:t>
            </a:r>
            <a:endParaRPr dirty="0">
              <a:latin typeface="Times New Roman" pitchFamily="18" charset="0"/>
              <a:cs typeface="Times New Roman" pitchFamily="18" charset="0"/>
            </a:endParaRPr>
          </a:p>
          <a:p>
            <a:pPr marL="12700" algn="ctr">
              <a:lnSpc>
                <a:spcPct val="100000"/>
              </a:lnSpc>
              <a:spcBef>
                <a:spcPts val="850"/>
              </a:spcBef>
            </a:pPr>
            <a:r>
              <a:rPr lang="en-US" sz="2400" b="1" dirty="0">
                <a:latin typeface="Times New Roman" pitchFamily="18" charset="0"/>
                <a:cs typeface="Times New Roman" pitchFamily="18" charset="0"/>
              </a:rPr>
              <a:t>Assessment of Combustion Instability in Cryogenic Engines</a:t>
            </a:r>
            <a:endParaRPr lang="en-US" sz="2400" dirty="0">
              <a:latin typeface="Times New Roman" pitchFamily="18" charset="0"/>
              <a:cs typeface="Times New Roman" pitchFamily="18" charset="0"/>
            </a:endParaRPr>
          </a:p>
          <a:p>
            <a:pPr marL="3600">
              <a:lnSpc>
                <a:spcPct val="100000"/>
              </a:lnSpc>
              <a:spcBef>
                <a:spcPts val="850"/>
              </a:spcBef>
              <a:spcAft>
                <a:spcPts val="140"/>
              </a:spcAft>
            </a:pPr>
            <a:r>
              <a:rPr lang="en-US" sz="2000" i="1" spc="-10" dirty="0">
                <a:latin typeface="Times New Roman" pitchFamily="18" charset="0"/>
                <a:cs typeface="Times New Roman" pitchFamily="18" charset="0"/>
              </a:rPr>
              <a:t> </a:t>
            </a:r>
            <a:endParaRPr lang="en-US" spc="-10" dirty="0">
              <a:latin typeface="Times New Roman" pitchFamily="18" charset="0"/>
              <a:cs typeface="Times New Roman" pitchFamily="18" charset="0"/>
            </a:endParaRPr>
          </a:p>
        </p:txBody>
      </p:sp>
      <p:pic>
        <p:nvPicPr>
          <p:cNvPr id="4" name="object 4">
            <a:extLst>
              <a:ext uri="{FF2B5EF4-FFF2-40B4-BE49-F238E27FC236}">
                <a16:creationId xmlns:a16="http://schemas.microsoft.com/office/drawing/2014/main" id="{7E7E42D6-7C30-0276-0179-4AECE7B5AC24}"/>
              </a:ext>
            </a:extLst>
          </p:cNvPr>
          <p:cNvPicPr/>
          <p:nvPr/>
        </p:nvPicPr>
        <p:blipFill>
          <a:blip r:embed="rId2" cstate="print"/>
          <a:stretch>
            <a:fillRect/>
          </a:stretch>
        </p:blipFill>
        <p:spPr>
          <a:xfrm>
            <a:off x="5219912" y="1452359"/>
            <a:ext cx="1391392" cy="1178292"/>
          </a:xfrm>
          <a:prstGeom prst="rect">
            <a:avLst/>
          </a:prstGeom>
        </p:spPr>
      </p:pic>
      <p:sp>
        <p:nvSpPr>
          <p:cNvPr id="7" name="TextBox 6">
            <a:extLst>
              <a:ext uri="{FF2B5EF4-FFF2-40B4-BE49-F238E27FC236}">
                <a16:creationId xmlns:a16="http://schemas.microsoft.com/office/drawing/2014/main" id="{05D54A6B-F573-2003-4612-8D5174F45346}"/>
              </a:ext>
            </a:extLst>
          </p:cNvPr>
          <p:cNvSpPr txBox="1"/>
          <p:nvPr/>
        </p:nvSpPr>
        <p:spPr>
          <a:xfrm>
            <a:off x="8392242" y="5483008"/>
            <a:ext cx="3799758" cy="1200329"/>
          </a:xfrm>
          <a:prstGeom prst="rect">
            <a:avLst/>
          </a:prstGeom>
          <a:noFill/>
        </p:spPr>
        <p:txBody>
          <a:bodyPr wrap="none" rtlCol="0">
            <a:spAutoFit/>
          </a:bodyPr>
          <a:lstStyle/>
          <a:p>
            <a:pPr algn="ctr"/>
            <a:r>
              <a:rPr lang="en-US" spc="-10" dirty="0">
                <a:latin typeface="Times New Roman" pitchFamily="18" charset="0"/>
                <a:cs typeface="Times New Roman" pitchFamily="18" charset="0"/>
              </a:rPr>
              <a:t> </a:t>
            </a:r>
            <a:r>
              <a:rPr lang="en-US" i="1" spc="-10" dirty="0">
                <a:latin typeface="Times New Roman" pitchFamily="18" charset="0"/>
                <a:cs typeface="Times New Roman" pitchFamily="18" charset="0"/>
              </a:rPr>
              <a:t>Under the guidance of :</a:t>
            </a:r>
          </a:p>
          <a:p>
            <a:pPr algn="ctr"/>
            <a:r>
              <a:rPr lang="en-US" b="1" spc="-10" dirty="0">
                <a:latin typeface="Times New Roman" pitchFamily="18" charset="0"/>
                <a:cs typeface="Times New Roman" pitchFamily="18" charset="0"/>
              </a:rPr>
              <a:t>Dr. RAJENDRA BHADUR</a:t>
            </a:r>
          </a:p>
          <a:p>
            <a:pPr algn="ctr"/>
            <a:r>
              <a:rPr lang="en-US" spc="-10" dirty="0">
                <a:latin typeface="Times New Roman" pitchFamily="18" charset="0"/>
                <a:cs typeface="Times New Roman" pitchFamily="18" charset="0"/>
              </a:rPr>
              <a:t>Assistant Professor</a:t>
            </a:r>
          </a:p>
          <a:p>
            <a:pPr algn="ctr"/>
            <a:r>
              <a:rPr lang="en-US" spc="-10" dirty="0">
                <a:latin typeface="Times New Roman" pitchFamily="18" charset="0"/>
                <a:cs typeface="Times New Roman" pitchFamily="18" charset="0"/>
              </a:rPr>
              <a:t>Department of Mechanical Engineering</a:t>
            </a:r>
            <a:endParaRPr lang="en-US" dirty="0"/>
          </a:p>
        </p:txBody>
      </p:sp>
      <p:sp>
        <p:nvSpPr>
          <p:cNvPr id="5" name="TextBox 4">
            <a:extLst>
              <a:ext uri="{FF2B5EF4-FFF2-40B4-BE49-F238E27FC236}">
                <a16:creationId xmlns:a16="http://schemas.microsoft.com/office/drawing/2014/main" id="{0D6ECD85-AA4E-B92B-F3CC-9E30B836D6C4}"/>
              </a:ext>
            </a:extLst>
          </p:cNvPr>
          <p:cNvSpPr txBox="1"/>
          <p:nvPr/>
        </p:nvSpPr>
        <p:spPr>
          <a:xfrm>
            <a:off x="4082405" y="3956950"/>
            <a:ext cx="4027189" cy="2357056"/>
          </a:xfrm>
          <a:prstGeom prst="rect">
            <a:avLst/>
          </a:prstGeom>
          <a:noFill/>
        </p:spPr>
        <p:txBody>
          <a:bodyPr wrap="square" rtlCol="0">
            <a:spAutoFit/>
          </a:bodyPr>
          <a:lstStyle/>
          <a:p>
            <a:pPr marL="3600" algn="ctr">
              <a:lnSpc>
                <a:spcPct val="100000"/>
              </a:lnSpc>
              <a:spcBef>
                <a:spcPts val="850"/>
              </a:spcBef>
              <a:spcAft>
                <a:spcPts val="140"/>
              </a:spcAft>
            </a:pPr>
            <a:r>
              <a:rPr lang="en-US" i="1" spc="-10" dirty="0">
                <a:latin typeface="Times New Roman" pitchFamily="18" charset="0"/>
                <a:cs typeface="Times New Roman" pitchFamily="18" charset="0"/>
              </a:rPr>
              <a:t>Presented by:</a:t>
            </a:r>
          </a:p>
          <a:p>
            <a:pPr marL="3600" algn="ctr">
              <a:lnSpc>
                <a:spcPct val="100000"/>
              </a:lnSpc>
              <a:spcBef>
                <a:spcPts val="850"/>
              </a:spcBef>
              <a:spcAft>
                <a:spcPts val="140"/>
              </a:spcAft>
            </a:pPr>
            <a:r>
              <a:rPr lang="en-US" spc="-10" dirty="0">
                <a:latin typeface="Times New Roman" pitchFamily="18" charset="0"/>
                <a:cs typeface="Times New Roman" pitchFamily="18" charset="0"/>
              </a:rPr>
              <a:t>Aditya Kumar Patel    (2210013105002)	</a:t>
            </a:r>
          </a:p>
          <a:p>
            <a:pPr marL="3600" algn="ctr">
              <a:lnSpc>
                <a:spcPct val="100000"/>
              </a:lnSpc>
              <a:spcBef>
                <a:spcPts val="850"/>
              </a:spcBef>
            </a:pPr>
            <a:r>
              <a:rPr lang="en-US" spc="-10" dirty="0">
                <a:latin typeface="Times New Roman" pitchFamily="18" charset="0"/>
                <a:cs typeface="Times New Roman" pitchFamily="18" charset="0"/>
              </a:rPr>
              <a:t>Ashish Kumar Raj     (2210013105011)</a:t>
            </a:r>
          </a:p>
          <a:p>
            <a:pPr marL="3600" algn="ctr">
              <a:lnSpc>
                <a:spcPct val="100000"/>
              </a:lnSpc>
              <a:spcBef>
                <a:spcPts val="850"/>
              </a:spcBef>
            </a:pPr>
            <a:r>
              <a:rPr lang="en-US" spc="-10" dirty="0">
                <a:latin typeface="Times New Roman" pitchFamily="18" charset="0"/>
                <a:cs typeface="Times New Roman" pitchFamily="18" charset="0"/>
              </a:rPr>
              <a:t>Ayush Mishra             (2210013105012)</a:t>
            </a:r>
          </a:p>
          <a:p>
            <a:pPr marL="3600" algn="ctr">
              <a:lnSpc>
                <a:spcPct val="100000"/>
              </a:lnSpc>
              <a:spcBef>
                <a:spcPts val="850"/>
              </a:spcBef>
            </a:pPr>
            <a:r>
              <a:rPr lang="en-US" spc="-10" dirty="0">
                <a:latin typeface="Times New Roman" pitchFamily="18" charset="0"/>
                <a:cs typeface="Times New Roman" pitchFamily="18" charset="0"/>
              </a:rPr>
              <a:t>Prashant Patel            (2210013105026)</a:t>
            </a:r>
          </a:p>
          <a:p>
            <a:pPr marL="3600" algn="ctr">
              <a:lnSpc>
                <a:spcPct val="100000"/>
              </a:lnSpc>
              <a:spcBef>
                <a:spcPts val="850"/>
              </a:spcBef>
            </a:pPr>
            <a:r>
              <a:rPr lang="en-US" spc="-10" dirty="0">
                <a:latin typeface="Times New Roman" pitchFamily="18" charset="0"/>
                <a:cs typeface="Times New Roman" pitchFamily="18" charset="0"/>
              </a:rPr>
              <a:t>Tanishq Maurya         (2210013105036)</a:t>
            </a:r>
          </a:p>
        </p:txBody>
      </p:sp>
    </p:spTree>
    <p:extLst>
      <p:ext uri="{BB962C8B-B14F-4D97-AF65-F5344CB8AC3E}">
        <p14:creationId xmlns:p14="http://schemas.microsoft.com/office/powerpoint/2010/main" val="185355249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1961E1-45E4-0EC5-90FD-40BD05E3395D}"/>
              </a:ext>
            </a:extLst>
          </p:cNvPr>
          <p:cNvSpPr>
            <a:spLocks noGrp="1"/>
          </p:cNvSpPr>
          <p:nvPr>
            <p:ph type="ctrTitle"/>
          </p:nvPr>
        </p:nvSpPr>
        <p:spPr>
          <a:xfrm>
            <a:off x="276119" y="2776661"/>
            <a:ext cx="6924781" cy="2387600"/>
          </a:xfrm>
        </p:spPr>
        <p:txBody>
          <a:bodyPr>
            <a:normAutofit/>
          </a:bodyPr>
          <a:lstStyle/>
          <a:p>
            <a:pPr algn="l"/>
            <a:r>
              <a:rPr lang="en-US" sz="5600" dirty="0">
                <a:latin typeface="Impact" panose="020B0806030902050204" pitchFamily="34" charset="0"/>
              </a:rPr>
              <a:t>Combustion Instability in Cryo-LREs</a:t>
            </a:r>
          </a:p>
        </p:txBody>
      </p:sp>
      <p:sp>
        <p:nvSpPr>
          <p:cNvPr id="3" name="Subtitle 2">
            <a:extLst>
              <a:ext uri="{FF2B5EF4-FFF2-40B4-BE49-F238E27FC236}">
                <a16:creationId xmlns:a16="http://schemas.microsoft.com/office/drawing/2014/main" id="{E59BE01F-5B00-8EBD-9473-C10D17FFA696}"/>
              </a:ext>
            </a:extLst>
          </p:cNvPr>
          <p:cNvSpPr>
            <a:spLocks noGrp="1"/>
          </p:cNvSpPr>
          <p:nvPr>
            <p:ph type="subTitle" idx="1"/>
          </p:nvPr>
        </p:nvSpPr>
        <p:spPr>
          <a:xfrm>
            <a:off x="183651" y="5380018"/>
            <a:ext cx="1938068" cy="1655762"/>
          </a:xfrm>
        </p:spPr>
        <p:txBody>
          <a:bodyPr/>
          <a:lstStyle/>
          <a:p>
            <a:r>
              <a:rPr lang="en-US" i="1" dirty="0"/>
              <a:t>By- Group 3</a:t>
            </a:r>
          </a:p>
        </p:txBody>
      </p:sp>
      <p:pic>
        <p:nvPicPr>
          <p:cNvPr id="18" name="Picture 17">
            <a:extLst>
              <a:ext uri="{FF2B5EF4-FFF2-40B4-BE49-F238E27FC236}">
                <a16:creationId xmlns:a16="http://schemas.microsoft.com/office/drawing/2014/main" id="{42E0736D-AD73-FF47-426E-97A22CA60C22}"/>
              </a:ext>
            </a:extLst>
          </p:cNvPr>
          <p:cNvPicPr>
            <a:picLocks noChangeAspect="1"/>
          </p:cNvPicPr>
          <p:nvPr/>
        </p:nvPicPr>
        <p:blipFill>
          <a:blip r:embed="rId2">
            <a:extLst>
              <a:ext uri="{28A0092B-C50C-407E-A947-70E740481C1C}">
                <a14:useLocalDpi xmlns:a14="http://schemas.microsoft.com/office/drawing/2010/main" val="0"/>
              </a:ext>
            </a:extLst>
          </a:blip>
          <a:srcRect l="21061" t="10119" r="22596"/>
          <a:stretch>
            <a:fillRect/>
          </a:stretch>
        </p:blipFill>
        <p:spPr>
          <a:xfrm>
            <a:off x="7200900" y="0"/>
            <a:ext cx="4991100" cy="6858000"/>
          </a:xfrm>
          <a:prstGeom prst="rect">
            <a:avLst/>
          </a:prstGeom>
        </p:spPr>
      </p:pic>
    </p:spTree>
    <p:extLst>
      <p:ext uri="{BB962C8B-B14F-4D97-AF65-F5344CB8AC3E}">
        <p14:creationId xmlns:p14="http://schemas.microsoft.com/office/powerpoint/2010/main" val="405237406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78A325-061F-9898-FF39-29C6B52F7899}"/>
              </a:ext>
            </a:extLst>
          </p:cNvPr>
          <p:cNvSpPr>
            <a:spLocks noGrp="1"/>
          </p:cNvSpPr>
          <p:nvPr>
            <p:ph type="title"/>
          </p:nvPr>
        </p:nvSpPr>
        <p:spPr>
          <a:xfrm>
            <a:off x="6571889" y="834523"/>
            <a:ext cx="10515600" cy="1325563"/>
          </a:xfrm>
        </p:spPr>
        <p:txBody>
          <a:bodyPr/>
          <a:lstStyle/>
          <a:p>
            <a:r>
              <a:rPr lang="en-US" dirty="0"/>
              <a:t>Agenda</a:t>
            </a:r>
          </a:p>
        </p:txBody>
      </p:sp>
      <p:pic>
        <p:nvPicPr>
          <p:cNvPr id="4" name="Picture Placeholder 8" descr="Close up of the moon">
            <a:extLst>
              <a:ext uri="{FF2B5EF4-FFF2-40B4-BE49-F238E27FC236}">
                <a16:creationId xmlns:a16="http://schemas.microsoft.com/office/drawing/2014/main" id="{C982BF7F-74F9-E5DA-CDEA-904AE05EC76E}"/>
              </a:ext>
            </a:extLst>
          </p:cNvPr>
          <p:cNvPicPr>
            <a:picLocks noChangeAspect="1"/>
          </p:cNvPicPr>
          <p:nvPr/>
        </p:nvPicPr>
        <p:blipFill>
          <a:blip r:embed="rId2" cstate="email">
            <a:extLst>
              <a:ext uri="{28A0092B-C50C-407E-A947-70E740481C1C}">
                <a14:useLocalDpi xmlns:a14="http://schemas.microsoft.com/office/drawing/2010/main"/>
              </a:ext>
            </a:extLst>
          </a:blip>
          <a:srcRect/>
          <a:stretch/>
        </p:blipFill>
        <p:spPr>
          <a:xfrm>
            <a:off x="-130629" y="0"/>
            <a:ext cx="6095994" cy="6858000"/>
          </a:xfrm>
          <a:prstGeom prst="rect">
            <a:avLst/>
          </a:prstGeom>
        </p:spPr>
      </p:pic>
      <p:sp>
        <p:nvSpPr>
          <p:cNvPr id="7" name="Content Placeholder 1">
            <a:extLst>
              <a:ext uri="{FF2B5EF4-FFF2-40B4-BE49-F238E27FC236}">
                <a16:creationId xmlns:a16="http://schemas.microsoft.com/office/drawing/2014/main" id="{F9CCD241-FF45-09AD-E9E3-B820516686EF}"/>
              </a:ext>
            </a:extLst>
          </p:cNvPr>
          <p:cNvSpPr txBox="1">
            <a:spLocks/>
          </p:cNvSpPr>
          <p:nvPr/>
        </p:nvSpPr>
        <p:spPr>
          <a:xfrm>
            <a:off x="6571889" y="2292335"/>
            <a:ext cx="4188640" cy="4151675"/>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buFont typeface="Wingdings" panose="05000000000000000000" pitchFamily="2" charset="2"/>
              <a:buChar char="ü"/>
            </a:pPr>
            <a:r>
              <a:rPr lang="en-US" i="1" dirty="0"/>
              <a:t>THEORY OF CRYO-LREs</a:t>
            </a:r>
          </a:p>
          <a:p>
            <a:pPr>
              <a:buFont typeface="Wingdings" panose="05000000000000000000" pitchFamily="2" charset="2"/>
              <a:buChar char="ü"/>
            </a:pPr>
            <a:r>
              <a:rPr lang="en-US" i="1" dirty="0"/>
              <a:t>DESIGN</a:t>
            </a:r>
          </a:p>
          <a:p>
            <a:pPr>
              <a:buFont typeface="Wingdings" panose="05000000000000000000" pitchFamily="2" charset="2"/>
              <a:buChar char="ü"/>
            </a:pPr>
            <a:r>
              <a:rPr lang="en-US" i="1" dirty="0"/>
              <a:t>PRE-PROCESSING</a:t>
            </a:r>
          </a:p>
          <a:p>
            <a:pPr>
              <a:buFont typeface="Wingdings" panose="05000000000000000000" pitchFamily="2" charset="2"/>
              <a:buChar char="ü"/>
            </a:pPr>
            <a:endParaRPr lang="en-US" dirty="0"/>
          </a:p>
        </p:txBody>
      </p:sp>
      <p:cxnSp>
        <p:nvCxnSpPr>
          <p:cNvPr id="8" name="Straight Connector 7">
            <a:extLst>
              <a:ext uri="{FF2B5EF4-FFF2-40B4-BE49-F238E27FC236}">
                <a16:creationId xmlns:a16="http://schemas.microsoft.com/office/drawing/2014/main" id="{CB65D595-864C-58CE-4E06-8F51EC069594}"/>
              </a:ext>
            </a:extLst>
          </p:cNvPr>
          <p:cNvCxnSpPr>
            <a:cxnSpLocks/>
          </p:cNvCxnSpPr>
          <p:nvPr/>
        </p:nvCxnSpPr>
        <p:spPr>
          <a:xfrm rot="10800000">
            <a:off x="11332699" y="5289725"/>
            <a:ext cx="0" cy="706230"/>
          </a:xfrm>
          <a:prstGeom prst="line">
            <a:avLst/>
          </a:prstGeom>
          <a:ln w="5715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91258565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BE34FC0-88B4-32C6-77EE-B244C1A128CF}"/>
              </a:ext>
            </a:extLst>
          </p:cNvPr>
          <p:cNvSpPr txBox="1">
            <a:spLocks/>
          </p:cNvSpPr>
          <p:nvPr/>
        </p:nvSpPr>
        <p:spPr>
          <a:xfrm>
            <a:off x="792280" y="776028"/>
            <a:ext cx="7355677" cy="4572000"/>
          </a:xfrm>
          <a:prstGeom prst="rect">
            <a:avLst/>
          </a:prstGeom>
        </p:spPr>
        <p:txBody>
          <a:bodyPr vert="horz" lIns="91440" tIns="45720" rIns="91440" bIns="45720" rtlCol="0" anchor="t" anchorCtr="0">
            <a:normAutofit/>
          </a:bodyPr>
          <a:lstStyle>
            <a:lvl1pPr marL="164592" indent="-164592" algn="l" defTabSz="914400" rtl="0" eaLnBrk="1" latinLnBrk="0" hangingPunct="1">
              <a:lnSpc>
                <a:spcPct val="100000"/>
              </a:lnSpc>
              <a:spcBef>
                <a:spcPts val="0"/>
              </a:spcBef>
              <a:buFont typeface="Arial" panose="020B0604020202020204" pitchFamily="34" charset="0"/>
              <a:buNone/>
              <a:defRPr sz="4000" b="1" i="0" kern="1200" cap="all" spc="50" baseline="0">
                <a:solidFill>
                  <a:schemeClr val="tx1"/>
                </a:solidFill>
                <a:latin typeface="+mj-lt"/>
                <a:ea typeface="+mn-ea"/>
                <a:cs typeface="Poppins" pitchFamily="2" charset="77"/>
              </a:defRPr>
            </a:lvl1pPr>
            <a:lvl2pPr marL="228600" indent="0" algn="l" defTabSz="914400" rtl="0" eaLnBrk="1" latinLnBrk="0" hangingPunct="1">
              <a:lnSpc>
                <a:spcPct val="100000"/>
              </a:lnSpc>
              <a:spcBef>
                <a:spcPts val="500"/>
              </a:spcBef>
              <a:buFont typeface="Arial" panose="020B0604020202020204" pitchFamily="34" charset="0"/>
              <a:buNone/>
              <a:defRPr sz="1600" b="0" i="0" kern="1200">
                <a:solidFill>
                  <a:schemeClr val="tx1"/>
                </a:solidFill>
                <a:latin typeface="+mn-lt"/>
                <a:ea typeface="+mn-ea"/>
                <a:cs typeface="Poppins Light" pitchFamily="2" charset="77"/>
              </a:defRPr>
            </a:lvl2pPr>
            <a:lvl3pPr marL="457200" indent="0" algn="l" defTabSz="914400" rtl="0" eaLnBrk="1" latinLnBrk="0" hangingPunct="1">
              <a:lnSpc>
                <a:spcPct val="100000"/>
              </a:lnSpc>
              <a:spcBef>
                <a:spcPts val="500"/>
              </a:spcBef>
              <a:buFont typeface="Arial" panose="020B0604020202020204" pitchFamily="34" charset="0"/>
              <a:buNone/>
              <a:defRPr sz="1400" b="0" i="0" kern="1200">
                <a:solidFill>
                  <a:schemeClr val="tx1"/>
                </a:solidFill>
                <a:latin typeface="+mn-lt"/>
                <a:ea typeface="+mn-ea"/>
                <a:cs typeface="Poppins Light" pitchFamily="2" charset="77"/>
              </a:defRPr>
            </a:lvl3pPr>
            <a:lvl4pPr marL="685800" indent="0" algn="l" defTabSz="914400" rtl="0" eaLnBrk="1" latinLnBrk="0" hangingPunct="1">
              <a:lnSpc>
                <a:spcPct val="100000"/>
              </a:lnSpc>
              <a:spcBef>
                <a:spcPts val="500"/>
              </a:spcBef>
              <a:buFont typeface="Arial" panose="020B0604020202020204" pitchFamily="34" charset="0"/>
              <a:buNone/>
              <a:defRPr sz="1200" b="0" i="0" kern="1200">
                <a:solidFill>
                  <a:schemeClr val="tx1"/>
                </a:solidFill>
                <a:latin typeface="Poppins Light" pitchFamily="2" charset="77"/>
                <a:ea typeface="+mn-ea"/>
                <a:cs typeface="Poppins Light" pitchFamily="2" charset="77"/>
              </a:defRPr>
            </a:lvl4pPr>
            <a:lvl5pPr marL="914400" indent="0" algn="l" defTabSz="914400" rtl="0" eaLnBrk="1" latinLnBrk="0" hangingPunct="1">
              <a:lnSpc>
                <a:spcPct val="100000"/>
              </a:lnSpc>
              <a:spcBef>
                <a:spcPts val="500"/>
              </a:spcBef>
              <a:buFont typeface="Arial" panose="020B0604020202020204" pitchFamily="34" charset="0"/>
              <a:buNone/>
              <a:defRPr sz="1100" b="0" i="0" kern="1200">
                <a:solidFill>
                  <a:schemeClr val="tx1"/>
                </a:solidFill>
                <a:latin typeface="Poppins Light" pitchFamily="2" charset="77"/>
                <a:ea typeface="+mn-ea"/>
                <a:cs typeface="Poppins Light" pitchFamily="2" charset="77"/>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164592" marR="0" lvl="0" indent="-164592"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US" sz="4000" b="1" i="0" u="none" strike="noStrike" kern="1200" cap="all" spc="50" normalizeH="0" baseline="0" noProof="0" dirty="0">
                <a:ln>
                  <a:noFill/>
                </a:ln>
                <a:solidFill>
                  <a:srgbClr val="000000"/>
                </a:solidFill>
                <a:effectLst/>
                <a:uLnTx/>
                <a:uFillTx/>
                <a:latin typeface="Poppins"/>
                <a:ea typeface="+mn-ea"/>
                <a:cs typeface="Poppins" pitchFamily="2" charset="77"/>
              </a:rPr>
              <a:t>“Reach for the moon, even if you miss, you'll land among the stars.”</a:t>
            </a:r>
          </a:p>
        </p:txBody>
      </p:sp>
      <p:sp>
        <p:nvSpPr>
          <p:cNvPr id="4" name="Title 1">
            <a:extLst>
              <a:ext uri="{FF2B5EF4-FFF2-40B4-BE49-F238E27FC236}">
                <a16:creationId xmlns:a16="http://schemas.microsoft.com/office/drawing/2014/main" id="{9337C2EB-4671-A597-BAFF-36BD5EEC05F2}"/>
              </a:ext>
            </a:extLst>
          </p:cNvPr>
          <p:cNvSpPr txBox="1">
            <a:spLocks/>
          </p:cNvSpPr>
          <p:nvPr/>
        </p:nvSpPr>
        <p:spPr>
          <a:xfrm>
            <a:off x="812600" y="5601041"/>
            <a:ext cx="8229600" cy="466344"/>
          </a:xfrm>
          <a:prstGeom prst="rect">
            <a:avLst/>
          </a:prstGeom>
        </p:spPr>
        <p:txBody>
          <a:bodyPr>
            <a:normAutofit fontScale="70000" lnSpcReduction="2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dirty="0"/>
              <a:t>Norman Vincent Peale</a:t>
            </a:r>
          </a:p>
        </p:txBody>
      </p:sp>
      <p:cxnSp>
        <p:nvCxnSpPr>
          <p:cNvPr id="5" name="Straight Connector 4">
            <a:extLst>
              <a:ext uri="{FF2B5EF4-FFF2-40B4-BE49-F238E27FC236}">
                <a16:creationId xmlns:a16="http://schemas.microsoft.com/office/drawing/2014/main" id="{24F5920A-9784-3E4D-E3F5-DE00C82C6285}"/>
              </a:ext>
            </a:extLst>
          </p:cNvPr>
          <p:cNvCxnSpPr>
            <a:cxnSpLocks/>
          </p:cNvCxnSpPr>
          <p:nvPr/>
        </p:nvCxnSpPr>
        <p:spPr>
          <a:xfrm rot="10800000">
            <a:off x="11332699" y="5289725"/>
            <a:ext cx="0" cy="706230"/>
          </a:xfrm>
          <a:prstGeom prst="line">
            <a:avLst/>
          </a:prstGeom>
          <a:ln w="5715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45661786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1EC237-2924-BF78-CCAD-CBCCD98378E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6C2CE11-FA68-C70C-D642-941E361AE3BA}"/>
              </a:ext>
            </a:extLst>
          </p:cNvPr>
          <p:cNvSpPr>
            <a:spLocks noGrp="1"/>
          </p:cNvSpPr>
          <p:nvPr>
            <p:ph type="title"/>
          </p:nvPr>
        </p:nvSpPr>
        <p:spPr/>
        <p:txBody>
          <a:bodyPr/>
          <a:lstStyle/>
          <a:p>
            <a:r>
              <a:rPr lang="en-US" dirty="0"/>
              <a:t>Nozzle theory and gas dynamics</a:t>
            </a:r>
          </a:p>
        </p:txBody>
      </p:sp>
      <p:sp>
        <p:nvSpPr>
          <p:cNvPr id="3" name="Content Placeholder 2">
            <a:extLst>
              <a:ext uri="{FF2B5EF4-FFF2-40B4-BE49-F238E27FC236}">
                <a16:creationId xmlns:a16="http://schemas.microsoft.com/office/drawing/2014/main" id="{96FBD14D-04D7-6CEE-1BD9-40FD6588431F}"/>
              </a:ext>
            </a:extLst>
          </p:cNvPr>
          <p:cNvSpPr>
            <a:spLocks noGrp="1"/>
          </p:cNvSpPr>
          <p:nvPr>
            <p:ph idx="1"/>
          </p:nvPr>
        </p:nvSpPr>
        <p:spPr/>
        <p:txBody>
          <a:bodyPr/>
          <a:lstStyle/>
          <a:p>
            <a:r>
              <a:rPr lang="en-US" sz="1800" dirty="0"/>
              <a:t>A concise definition of </a:t>
            </a:r>
            <a:r>
              <a:rPr lang="en-US" sz="1800" b="1" dirty="0"/>
              <a:t>Gas Dynamics, </a:t>
            </a:r>
            <a:r>
              <a:rPr lang="en-US" sz="1800" dirty="0"/>
              <a:t>is the behavior of gases when their motion is fast enough (typically at high Mach numbers) that changes in </a:t>
            </a:r>
            <a:r>
              <a:rPr lang="en-US" sz="1800" b="1" dirty="0"/>
              <a:t>density</a:t>
            </a:r>
            <a:r>
              <a:rPr lang="en-US" sz="1800" dirty="0"/>
              <a:t> and </a:t>
            </a:r>
            <a:r>
              <a:rPr lang="en-US" sz="1800" b="1" dirty="0"/>
              <a:t>temperature</a:t>
            </a:r>
            <a:r>
              <a:rPr lang="en-US" sz="1800" dirty="0"/>
              <a:t> become significant, treating the gas as a continuous medium.</a:t>
            </a:r>
          </a:p>
          <a:p>
            <a:r>
              <a:rPr lang="en-US" sz="1800" dirty="0"/>
              <a:t>This behaviors of gas is expressed by Prandtl-Meyer relation</a:t>
            </a:r>
          </a:p>
          <a:p>
            <a:pPr marL="0" indent="0">
              <a:buNone/>
            </a:pPr>
            <a:endParaRPr lang="en-US" dirty="0"/>
          </a:p>
          <a:p>
            <a:endParaRPr lang="en-US" dirty="0"/>
          </a:p>
          <a:p>
            <a:endParaRPr lang="en-US" dirty="0"/>
          </a:p>
        </p:txBody>
      </p:sp>
      <p:cxnSp>
        <p:nvCxnSpPr>
          <p:cNvPr id="5" name="Straight Connector 4">
            <a:extLst>
              <a:ext uri="{FF2B5EF4-FFF2-40B4-BE49-F238E27FC236}">
                <a16:creationId xmlns:a16="http://schemas.microsoft.com/office/drawing/2014/main" id="{E2F9F686-0039-9313-F13F-AF78025C794B}"/>
              </a:ext>
            </a:extLst>
          </p:cNvPr>
          <p:cNvCxnSpPr>
            <a:cxnSpLocks/>
          </p:cNvCxnSpPr>
          <p:nvPr/>
        </p:nvCxnSpPr>
        <p:spPr>
          <a:xfrm rot="10800000">
            <a:off x="11332699" y="5289725"/>
            <a:ext cx="0" cy="706230"/>
          </a:xfrm>
          <a:prstGeom prst="line">
            <a:avLst/>
          </a:prstGeom>
          <a:ln w="57150">
            <a:solidFill>
              <a:schemeClr val="tx1"/>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7CAF1986-C22A-CDE7-99E0-848ED79C1110}"/>
                  </a:ext>
                </a:extLst>
              </p:cNvPr>
              <p:cNvSpPr txBox="1"/>
              <p:nvPr/>
            </p:nvSpPr>
            <p:spPr>
              <a:xfrm>
                <a:off x="2329542" y="3579039"/>
                <a:ext cx="2227943" cy="815480"/>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m:rPr>
                          <m:sty m:val="p"/>
                        </m:rPr>
                        <a:rPr lang="en-US" b="0" i="1" smtClean="0">
                          <a:latin typeface="Cambria Math" panose="02040503050406030204" pitchFamily="18" charset="0"/>
                        </a:rPr>
                        <m:t>dv</m:t>
                      </m:r>
                      <m:r>
                        <a:rPr lang="en-US" b="0" i="1" smtClean="0">
                          <a:latin typeface="Cambria Math" panose="02040503050406030204" pitchFamily="18" charset="0"/>
                        </a:rPr>
                        <m:t>=</m:t>
                      </m:r>
                      <m:f>
                        <m:fPr>
                          <m:ctrlPr>
                            <a:rPr lang="en-US" b="0" i="1" smtClean="0">
                              <a:latin typeface="Cambria Math" panose="02040503050406030204" pitchFamily="18" charset="0"/>
                            </a:rPr>
                          </m:ctrlPr>
                        </m:fPr>
                        <m:num>
                          <m:rad>
                            <m:radPr>
                              <m:degHide m:val="on"/>
                              <m:ctrlPr>
                                <a:rPr lang="en-US" b="0" i="1" smtClean="0">
                                  <a:latin typeface="Cambria Math" panose="02040503050406030204" pitchFamily="18" charset="0"/>
                                </a:rPr>
                              </m:ctrlPr>
                            </m:radPr>
                            <m:deg/>
                            <m:e>
                              <m:sSup>
                                <m:sSupPr>
                                  <m:ctrlPr>
                                    <a:rPr lang="en-US" b="0" i="1" smtClean="0">
                                      <a:latin typeface="Cambria Math" panose="02040503050406030204" pitchFamily="18" charset="0"/>
                                    </a:rPr>
                                  </m:ctrlPr>
                                </m:sSupPr>
                                <m:e>
                                  <m:r>
                                    <m:rPr>
                                      <m:sty m:val="p"/>
                                    </m:rPr>
                                    <a:rPr lang="en-US" b="0" i="1" smtClean="0">
                                      <a:latin typeface="Cambria Math" panose="02040503050406030204" pitchFamily="18" charset="0"/>
                                    </a:rPr>
                                    <m:t>M</m:t>
                                  </m:r>
                                </m:e>
                                <m:sup>
                                  <m:r>
                                    <a:rPr lang="en-US" b="0" i="1" smtClean="0">
                                      <a:latin typeface="Cambria Math" panose="02040503050406030204" pitchFamily="18" charset="0"/>
                                    </a:rPr>
                                    <m:t>2</m:t>
                                  </m:r>
                                </m:sup>
                              </m:sSup>
                              <m:r>
                                <a:rPr lang="en-US" b="0" i="1" smtClean="0">
                                  <a:latin typeface="Cambria Math" panose="02040503050406030204" pitchFamily="18" charset="0"/>
                                </a:rPr>
                                <m:t>−1</m:t>
                              </m:r>
                            </m:e>
                          </m:rad>
                        </m:num>
                        <m:den>
                          <m:r>
                            <a:rPr lang="en-US" b="0" i="1" smtClean="0">
                              <a:latin typeface="Cambria Math" panose="02040503050406030204" pitchFamily="18" charset="0"/>
                            </a:rPr>
                            <m:t>1+</m:t>
                          </m:r>
                          <m:f>
                            <m:fPr>
                              <m:ctrlPr>
                                <a:rPr lang="en-US" b="0" i="1" smtClean="0">
                                  <a:latin typeface="Cambria Math" panose="02040503050406030204" pitchFamily="18" charset="0"/>
                                </a:rPr>
                              </m:ctrlPr>
                            </m:fPr>
                            <m:num>
                              <m:r>
                                <a:rPr lang="en-US" b="0" i="1" smtClean="0">
                                  <a:latin typeface="Cambria Math" panose="02040503050406030204" pitchFamily="18" charset="0"/>
                                  <a:ea typeface="Cambria Math" panose="02040503050406030204" pitchFamily="18" charset="0"/>
                                </a:rPr>
                                <m:t>𝛾</m:t>
                              </m:r>
                              <m:r>
                                <a:rPr lang="en-US" b="0" i="1" smtClean="0">
                                  <a:latin typeface="Cambria Math" panose="02040503050406030204" pitchFamily="18" charset="0"/>
                                  <a:ea typeface="Cambria Math" panose="02040503050406030204" pitchFamily="18" charset="0"/>
                                </a:rPr>
                                <m:t>−1</m:t>
                              </m:r>
                            </m:num>
                            <m:den>
                              <m:r>
                                <a:rPr lang="en-US" b="0" i="1" smtClean="0">
                                  <a:latin typeface="Cambria Math" panose="02040503050406030204" pitchFamily="18" charset="0"/>
                                </a:rPr>
                                <m:t>2</m:t>
                              </m:r>
                            </m:den>
                          </m:f>
                          <m:sSup>
                            <m:sSupPr>
                              <m:ctrlPr>
                                <a:rPr lang="en-US" b="0" i="1" smtClean="0">
                                  <a:latin typeface="Cambria Math" panose="02040503050406030204" pitchFamily="18" charset="0"/>
                                </a:rPr>
                              </m:ctrlPr>
                            </m:sSupPr>
                            <m:e>
                              <m:r>
                                <m:rPr>
                                  <m:sty m:val="p"/>
                                </m:rPr>
                                <a:rPr lang="en-US" b="0" i="1" smtClean="0">
                                  <a:latin typeface="Cambria Math" panose="02040503050406030204" pitchFamily="18" charset="0"/>
                                </a:rPr>
                                <m:t>M</m:t>
                              </m:r>
                            </m:e>
                            <m:sup>
                              <m:r>
                                <a:rPr lang="en-US" b="0" i="1" smtClean="0">
                                  <a:latin typeface="Cambria Math" panose="02040503050406030204" pitchFamily="18" charset="0"/>
                                </a:rPr>
                                <m:t>2</m:t>
                              </m:r>
                            </m:sup>
                          </m:sSup>
                        </m:den>
                      </m:f>
                      <m:f>
                        <m:fPr>
                          <m:ctrlPr>
                            <a:rPr lang="en-US" b="0" i="1" smtClean="0">
                              <a:latin typeface="Cambria Math" panose="02040503050406030204" pitchFamily="18" charset="0"/>
                            </a:rPr>
                          </m:ctrlPr>
                        </m:fPr>
                        <m:num>
                          <m:r>
                            <m:rPr>
                              <m:sty m:val="p"/>
                            </m:rPr>
                            <a:rPr lang="en-US" b="0" i="1" smtClean="0">
                              <a:latin typeface="Cambria Math" panose="02040503050406030204" pitchFamily="18" charset="0"/>
                            </a:rPr>
                            <m:t>dM</m:t>
                          </m:r>
                        </m:num>
                        <m:den>
                          <m:r>
                            <m:rPr>
                              <m:sty m:val="p"/>
                            </m:rPr>
                            <a:rPr lang="en-US" b="0" i="1" smtClean="0">
                              <a:latin typeface="Cambria Math" panose="02040503050406030204" pitchFamily="18" charset="0"/>
                            </a:rPr>
                            <m:t>M</m:t>
                          </m:r>
                        </m:den>
                      </m:f>
                    </m:oMath>
                  </m:oMathPara>
                </a14:m>
                <a:endParaRPr lang="en-US" dirty="0"/>
              </a:p>
            </p:txBody>
          </p:sp>
        </mc:Choice>
        <mc:Fallback xmlns="">
          <p:sp>
            <p:nvSpPr>
              <p:cNvPr id="6" name="TextBox 5">
                <a:extLst>
                  <a:ext uri="{FF2B5EF4-FFF2-40B4-BE49-F238E27FC236}">
                    <a16:creationId xmlns:a16="http://schemas.microsoft.com/office/drawing/2014/main" id="{7CAF1986-C22A-CDE7-99E0-848ED79C1110}"/>
                  </a:ext>
                </a:extLst>
              </p:cNvPr>
              <p:cNvSpPr txBox="1">
                <a:spLocks noRot="1" noChangeAspect="1" noMove="1" noResize="1" noEditPoints="1" noAdjustHandles="1" noChangeArrowheads="1" noChangeShapeType="1" noTextEdit="1"/>
              </p:cNvSpPr>
              <p:nvPr/>
            </p:nvSpPr>
            <p:spPr>
              <a:xfrm>
                <a:off x="2329542" y="3579039"/>
                <a:ext cx="2227943" cy="815480"/>
              </a:xfrm>
              <a:prstGeom prst="rect">
                <a:avLst/>
              </a:prstGeom>
              <a:blipFill>
                <a:blip r:embed="rId2"/>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65068536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0FBF49-24E3-AEC0-A99E-FE1C738D1E7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2E9B60A-BCA3-E3AF-D805-A39BB66BA869}"/>
              </a:ext>
            </a:extLst>
          </p:cNvPr>
          <p:cNvSpPr>
            <a:spLocks noGrp="1"/>
          </p:cNvSpPr>
          <p:nvPr>
            <p:ph type="title"/>
          </p:nvPr>
        </p:nvSpPr>
        <p:spPr/>
        <p:txBody>
          <a:bodyPr/>
          <a:lstStyle/>
          <a:p>
            <a:r>
              <a:rPr lang="en-US" dirty="0"/>
              <a:t>Flow Characteristics</a:t>
            </a:r>
          </a:p>
        </p:txBody>
      </p:sp>
      <mc:AlternateContent xmlns:mc="http://schemas.openxmlformats.org/markup-compatibility/2006" xmlns:a14="http://schemas.microsoft.com/office/drawing/2010/main">
        <mc:Choice Requires="a14">
          <p:sp>
            <p:nvSpPr>
              <p:cNvPr id="3" name="TextBox 2">
                <a:extLst>
                  <a:ext uri="{FF2B5EF4-FFF2-40B4-BE49-F238E27FC236}">
                    <a16:creationId xmlns:a16="http://schemas.microsoft.com/office/drawing/2014/main" id="{CF78B6D8-DB63-8DE3-66BA-46EE303C0BC4}"/>
                  </a:ext>
                </a:extLst>
              </p:cNvPr>
              <p:cNvSpPr txBox="1"/>
              <p:nvPr/>
            </p:nvSpPr>
            <p:spPr>
              <a:xfrm>
                <a:off x="718931" y="1690688"/>
                <a:ext cx="5586466" cy="1200329"/>
              </a:xfrm>
              <a:prstGeom prst="rect">
                <a:avLst/>
              </a:prstGeom>
              <a:noFill/>
            </p:spPr>
            <p:txBody>
              <a:bodyPr wrap="none" rtlCol="0">
                <a:spAutoFit/>
              </a:bodyPr>
              <a:lstStyle/>
              <a:p>
                <a:r>
                  <a:rPr lang="en-US" dirty="0"/>
                  <a:t>An isentropic nozzle flow have three flow regions, namely</a:t>
                </a:r>
              </a:p>
              <a:p>
                <a:pPr marL="285750" indent="-285750">
                  <a:buFont typeface="Arial" panose="020B0604020202020204" pitchFamily="34" charset="0"/>
                  <a:buChar char="•"/>
                </a:pPr>
                <a:r>
                  <a:rPr lang="en-US" dirty="0"/>
                  <a:t>Sub-sonic (M&lt;1)	(A</a:t>
                </a:r>
                <a14:m>
                  <m:oMath xmlns:m="http://schemas.openxmlformats.org/officeDocument/2006/math">
                    <m:r>
                      <a:rPr lang="en-US" i="1">
                        <a:latin typeface="Cambria Math" panose="02040503050406030204" pitchFamily="18" charset="0"/>
                      </a:rPr>
                      <m:t>↓</m:t>
                    </m:r>
                  </m:oMath>
                </a14:m>
                <a:r>
                  <a:rPr lang="en-US" dirty="0"/>
                  <a:t>,p</a:t>
                </a:r>
                <a14:m>
                  <m:oMath xmlns:m="http://schemas.openxmlformats.org/officeDocument/2006/math">
                    <m:r>
                      <a:rPr lang="en-US" b="0" i="1" smtClean="0">
                        <a:latin typeface="Cambria Math" panose="02040503050406030204" pitchFamily="18" charset="0"/>
                      </a:rPr>
                      <m:t>↓</m:t>
                    </m:r>
                  </m:oMath>
                </a14:m>
                <a:r>
                  <a:rPr lang="en-US" dirty="0"/>
                  <a:t>,T</a:t>
                </a:r>
                <a14:m>
                  <m:oMath xmlns:m="http://schemas.openxmlformats.org/officeDocument/2006/math">
                    <m:r>
                      <a:rPr lang="en-US" i="1">
                        <a:latin typeface="Cambria Math" panose="02040503050406030204" pitchFamily="18" charset="0"/>
                      </a:rPr>
                      <m:t>↓</m:t>
                    </m:r>
                  </m:oMath>
                </a14:m>
                <a:r>
                  <a:rPr lang="en-US" dirty="0"/>
                  <a:t>,</a:t>
                </a:r>
                <a14:m>
                  <m:oMath xmlns:m="http://schemas.openxmlformats.org/officeDocument/2006/math">
                    <m:r>
                      <m:rPr>
                        <m:sty m:val="p"/>
                      </m:rPr>
                      <a:rPr lang="en-US" i="1">
                        <a:latin typeface="Cambria Math" panose="02040503050406030204" pitchFamily="18" charset="0"/>
                      </a:rPr>
                      <m:t>ρ</m:t>
                    </m:r>
                    <m:r>
                      <a:rPr lang="en-US" i="1">
                        <a:latin typeface="Cambria Math" panose="02040503050406030204" pitchFamily="18" charset="0"/>
                      </a:rPr>
                      <m:t>↓</m:t>
                    </m:r>
                  </m:oMath>
                </a14:m>
                <a:r>
                  <a:rPr lang="en-US" dirty="0"/>
                  <a:t>)</a:t>
                </a:r>
              </a:p>
              <a:p>
                <a:pPr marL="285750" indent="-285750">
                  <a:buFont typeface="Arial" panose="020B0604020202020204" pitchFamily="34" charset="0"/>
                  <a:buChar char="•"/>
                </a:pPr>
                <a:r>
                  <a:rPr lang="en-US" dirty="0"/>
                  <a:t>Trans-sonic (M=1)(A = A*,p </a:t>
                </a:r>
                <a14:m>
                  <m:oMath xmlns:m="http://schemas.openxmlformats.org/officeDocument/2006/math">
                    <m:r>
                      <a:rPr lang="en-US" i="1">
                        <a:latin typeface="Cambria Math" panose="02040503050406030204" pitchFamily="18" charset="0"/>
                      </a:rPr>
                      <m:t>=</m:t>
                    </m:r>
                    <m:r>
                      <m:rPr>
                        <m:sty m:val="p"/>
                      </m:rPr>
                      <a:rPr lang="en-US" b="0" i="1" smtClean="0">
                        <a:latin typeface="Cambria Math" panose="02040503050406030204" pitchFamily="18" charset="0"/>
                      </a:rPr>
                      <m:t>p</m:t>
                    </m:r>
                    <m:r>
                      <a:rPr lang="en-US" b="0" i="1" smtClean="0">
                        <a:latin typeface="Cambria Math" panose="02040503050406030204" pitchFamily="18" charset="0"/>
                      </a:rPr>
                      <m:t>∗</m:t>
                    </m:r>
                  </m:oMath>
                </a14:m>
                <a:r>
                  <a:rPr lang="en-US" dirty="0"/>
                  <a:t>,T=T*,</a:t>
                </a:r>
                <a14:m>
                  <m:oMath xmlns:m="http://schemas.openxmlformats.org/officeDocument/2006/math">
                    <m:r>
                      <m:rPr>
                        <m:sty m:val="p"/>
                      </m:rPr>
                      <a:rPr lang="en-US" b="0" i="1" smtClean="0">
                        <a:latin typeface="Cambria Math" panose="02040503050406030204" pitchFamily="18" charset="0"/>
                      </a:rPr>
                      <m:t>ρ</m:t>
                    </m:r>
                    <m:r>
                      <a:rPr lang="en-US" b="0" i="1" smtClean="0">
                        <a:latin typeface="Cambria Math" panose="02040503050406030204" pitchFamily="18" charset="0"/>
                      </a:rPr>
                      <m:t>=</m:t>
                    </m:r>
                    <m:r>
                      <m:rPr>
                        <m:sty m:val="p"/>
                      </m:rPr>
                      <a:rPr lang="en-US" b="0" i="1" smtClean="0">
                        <a:latin typeface="Cambria Math" panose="02040503050406030204" pitchFamily="18" charset="0"/>
                      </a:rPr>
                      <m:t>ρ</m:t>
                    </m:r>
                    <m:r>
                      <a:rPr lang="en-US" b="0" i="1" smtClean="0">
                        <a:latin typeface="Cambria Math" panose="02040503050406030204" pitchFamily="18" charset="0"/>
                      </a:rPr>
                      <m:t>∗</m:t>
                    </m:r>
                  </m:oMath>
                </a14:m>
                <a:r>
                  <a:rPr lang="en-US" dirty="0"/>
                  <a:t>)</a:t>
                </a:r>
              </a:p>
              <a:p>
                <a:pPr marL="285750" indent="-285750">
                  <a:buFont typeface="Arial" panose="020B0604020202020204" pitchFamily="34" charset="0"/>
                  <a:buChar char="•"/>
                </a:pPr>
                <a:r>
                  <a:rPr lang="en-US" dirty="0"/>
                  <a:t>Super-sonic (M&gt;1)(A</a:t>
                </a:r>
                <a14:m>
                  <m:oMath xmlns:m="http://schemas.openxmlformats.org/officeDocument/2006/math">
                    <m:r>
                      <m:rPr>
                        <m:lit/>
                      </m:rPr>
                      <a:rPr lang="en-US" i="1" smtClean="0">
                        <a:latin typeface="Cambria Math" panose="02040503050406030204" pitchFamily="18" charset="0"/>
                      </a:rPr>
                      <m:t>↑</m:t>
                    </m:r>
                  </m:oMath>
                </a14:m>
                <a:r>
                  <a:rPr lang="en-US" dirty="0"/>
                  <a:t>,p</a:t>
                </a:r>
                <a14:m>
                  <m:oMath xmlns:m="http://schemas.openxmlformats.org/officeDocument/2006/math">
                    <m:r>
                      <a:rPr lang="en-US" i="1">
                        <a:latin typeface="Cambria Math" panose="02040503050406030204" pitchFamily="18" charset="0"/>
                      </a:rPr>
                      <m:t>↓</m:t>
                    </m:r>
                  </m:oMath>
                </a14:m>
                <a:r>
                  <a:rPr lang="en-US" dirty="0"/>
                  <a:t>,T</a:t>
                </a:r>
                <a14:m>
                  <m:oMath xmlns:m="http://schemas.openxmlformats.org/officeDocument/2006/math">
                    <m:r>
                      <a:rPr lang="en-US" i="1">
                        <a:latin typeface="Cambria Math" panose="02040503050406030204" pitchFamily="18" charset="0"/>
                      </a:rPr>
                      <m:t>↓</m:t>
                    </m:r>
                  </m:oMath>
                </a14:m>
                <a:r>
                  <a:rPr lang="en-US" dirty="0"/>
                  <a:t>,</a:t>
                </a:r>
                <a14:m>
                  <m:oMath xmlns:m="http://schemas.openxmlformats.org/officeDocument/2006/math">
                    <m:r>
                      <m:rPr>
                        <m:sty m:val="p"/>
                      </m:rPr>
                      <a:rPr lang="en-US" i="1">
                        <a:latin typeface="Cambria Math" panose="02040503050406030204" pitchFamily="18" charset="0"/>
                      </a:rPr>
                      <m:t>ρ</m:t>
                    </m:r>
                    <m:r>
                      <a:rPr lang="en-US" i="1">
                        <a:latin typeface="Cambria Math" panose="02040503050406030204" pitchFamily="18" charset="0"/>
                      </a:rPr>
                      <m:t>↓</m:t>
                    </m:r>
                  </m:oMath>
                </a14:m>
                <a:r>
                  <a:rPr lang="en-US" dirty="0"/>
                  <a:t>)</a:t>
                </a:r>
              </a:p>
            </p:txBody>
          </p:sp>
        </mc:Choice>
        <mc:Fallback xmlns="">
          <p:sp>
            <p:nvSpPr>
              <p:cNvPr id="3" name="TextBox 2">
                <a:extLst>
                  <a:ext uri="{FF2B5EF4-FFF2-40B4-BE49-F238E27FC236}">
                    <a16:creationId xmlns:a16="http://schemas.microsoft.com/office/drawing/2014/main" id="{CF78B6D8-DB63-8DE3-66BA-46EE303C0BC4}"/>
                  </a:ext>
                </a:extLst>
              </p:cNvPr>
              <p:cNvSpPr txBox="1">
                <a:spLocks noRot="1" noChangeAspect="1" noMove="1" noResize="1" noEditPoints="1" noAdjustHandles="1" noChangeArrowheads="1" noChangeShapeType="1" noTextEdit="1"/>
              </p:cNvSpPr>
              <p:nvPr/>
            </p:nvSpPr>
            <p:spPr>
              <a:xfrm>
                <a:off x="718931" y="1690688"/>
                <a:ext cx="5586466" cy="1200329"/>
              </a:xfrm>
              <a:prstGeom prst="rect">
                <a:avLst/>
              </a:prstGeom>
              <a:blipFill>
                <a:blip r:embed="rId2"/>
                <a:stretch>
                  <a:fillRect l="-983" t="-2538" r="-109" b="-710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 name="Rectangle 1">
                <a:extLst>
                  <a:ext uri="{FF2B5EF4-FFF2-40B4-BE49-F238E27FC236}">
                    <a16:creationId xmlns:a16="http://schemas.microsoft.com/office/drawing/2014/main" id="{76E10123-4B4B-3939-AF36-DBFC99C12076}"/>
                  </a:ext>
                </a:extLst>
              </p:cNvPr>
              <p:cNvSpPr>
                <a:spLocks noChangeArrowheads="1"/>
              </p:cNvSpPr>
              <p:nvPr/>
            </p:nvSpPr>
            <p:spPr bwMode="auto">
              <a:xfrm>
                <a:off x="838200" y="3930476"/>
                <a:ext cx="1636217" cy="572208"/>
              </a:xfrm>
              <a:prstGeom prst="rect">
                <a:avLst/>
              </a:prstGeom>
              <a:noFill/>
              <a:ln>
                <a:noFill/>
              </a:ln>
              <a:effectLst/>
              <a:extLst>
                <a:ext uri="{909E8E84-426E-40DD-AFC4-6F175D3DCCD1}">
                  <a14:hiddenFill>
                    <a:solidFill>
                      <a:schemeClr val="accent1"/>
                    </a:solidFill>
                  </a14:hiddenFill>
                </a:ext>
                <a:ext uri="{91240B29-F687-4F45-9708-019B960494DF}">
                  <a14:hiddenLine w="9525">
                    <a:solidFill>
                      <a:schemeClr val="tx1"/>
                    </a:solidFill>
                    <a:miter lim="800000"/>
                    <a:headEnd/>
                    <a:tailEnd/>
                  </a14:hiddenLine>
                </a:ext>
                <a:ext uri="{AF507438-7753-43E0-B8FC-AC1667EBCBE1}">
                  <a14:hiddenEffects>
                    <a:effectLst>
                      <a:outerShdw dist="35921" dir="2700000" algn="ctr" rotWithShape="0">
                        <a:schemeClr val="bg2"/>
                      </a:outerShdw>
                    </a:effectLst>
                  </a14:hiddenEffects>
                </a:ext>
              </a:extLst>
            </p:spPr>
            <p:txBody>
              <a:bodyPr vert="horz" wrap="none" lIns="91440" tIns="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14:m>
                  <m:oMathPara xmlns:m="http://schemas.openxmlformats.org/officeDocument/2006/math">
                    <m:oMathParaPr>
                      <m:jc m:val="centerGroup"/>
                    </m:oMathParaPr>
                    <m:oMath xmlns:m="http://schemas.openxmlformats.org/officeDocument/2006/math">
                      <m:f>
                        <m:fPr>
                          <m:ctrlPr>
                            <a:rPr kumimoji="0" lang="en-US" altLang="en-US" sz="1800" b="0" i="1" u="none" strike="noStrike" cap="none" normalizeH="0" baseline="0" smtClean="0">
                              <a:ln>
                                <a:noFill/>
                              </a:ln>
                              <a:solidFill>
                                <a:schemeClr val="tx1"/>
                              </a:solidFill>
                              <a:effectLst/>
                              <a:latin typeface="Cambria Math" panose="02040503050406030204" pitchFamily="18" charset="0"/>
                            </a:rPr>
                          </m:ctrlPr>
                        </m:fPr>
                        <m:num>
                          <m:r>
                            <m:rPr>
                              <m:sty m:val="p"/>
                            </m:rPr>
                            <a:rPr kumimoji="0" lang="en-US" altLang="en-US" sz="1800" b="0" i="1" u="none" strike="noStrike" cap="none" normalizeH="0" baseline="0" smtClean="0">
                              <a:ln>
                                <a:noFill/>
                              </a:ln>
                              <a:solidFill>
                                <a:schemeClr val="tx1"/>
                              </a:solidFill>
                              <a:effectLst/>
                              <a:latin typeface="Cambria Math" panose="02040503050406030204" pitchFamily="18" charset="0"/>
                            </a:rPr>
                            <m:t>dV</m:t>
                          </m:r>
                        </m:num>
                        <m:den>
                          <m:r>
                            <m:rPr>
                              <m:sty m:val="p"/>
                            </m:rPr>
                            <a:rPr kumimoji="0" lang="en-US" altLang="en-US" sz="1800" b="0" i="1" u="none" strike="noStrike" cap="none" normalizeH="0" baseline="0" smtClean="0">
                              <a:ln>
                                <a:noFill/>
                              </a:ln>
                              <a:solidFill>
                                <a:schemeClr val="tx1"/>
                              </a:solidFill>
                              <a:effectLst/>
                              <a:latin typeface="Cambria Math" panose="02040503050406030204" pitchFamily="18" charset="0"/>
                            </a:rPr>
                            <m:t>V</m:t>
                          </m:r>
                        </m:den>
                      </m:f>
                      <m:r>
                        <a:rPr kumimoji="0" lang="en-US" altLang="en-US" sz="1800" b="0" i="1" u="none" strike="noStrike" cap="none" normalizeH="0" baseline="0" smtClean="0">
                          <a:ln>
                            <a:noFill/>
                          </a:ln>
                          <a:solidFill>
                            <a:schemeClr val="tx1"/>
                          </a:solidFill>
                          <a:effectLst/>
                          <a:latin typeface="Cambria Math" panose="02040503050406030204" pitchFamily="18" charset="0"/>
                        </a:rPr>
                        <m:t>=</m:t>
                      </m:r>
                      <m:f>
                        <m:fPr>
                          <m:ctrlPr>
                            <a:rPr kumimoji="0" lang="en-US" altLang="en-US" sz="1800" b="0" i="1" u="none" strike="noStrike" cap="none" normalizeH="0" baseline="0" smtClean="0">
                              <a:ln>
                                <a:noFill/>
                              </a:ln>
                              <a:solidFill>
                                <a:schemeClr val="tx1"/>
                              </a:solidFill>
                              <a:effectLst/>
                              <a:latin typeface="Cambria Math" panose="02040503050406030204" pitchFamily="18" charset="0"/>
                            </a:rPr>
                          </m:ctrlPr>
                        </m:fPr>
                        <m:num>
                          <m:r>
                            <a:rPr kumimoji="0" lang="en-US" altLang="en-US" sz="1800" b="0" i="1" u="none" strike="noStrike" cap="none" normalizeH="0" baseline="0" smtClean="0">
                              <a:ln>
                                <a:noFill/>
                              </a:ln>
                              <a:solidFill>
                                <a:schemeClr val="tx1"/>
                              </a:solidFill>
                              <a:effectLst/>
                              <a:latin typeface="Cambria Math" panose="02040503050406030204" pitchFamily="18" charset="0"/>
                            </a:rPr>
                            <m:t>1</m:t>
                          </m:r>
                        </m:num>
                        <m:den>
                          <m:sSup>
                            <m:sSupPr>
                              <m:ctrlPr>
                                <a:rPr kumimoji="0" lang="en-US" altLang="en-US" sz="1800" b="0" i="1" u="none" strike="noStrike" cap="none" normalizeH="0" baseline="0" smtClean="0">
                                  <a:ln>
                                    <a:noFill/>
                                  </a:ln>
                                  <a:solidFill>
                                    <a:schemeClr val="tx1"/>
                                  </a:solidFill>
                                  <a:effectLst/>
                                  <a:latin typeface="Cambria Math" panose="02040503050406030204" pitchFamily="18" charset="0"/>
                                </a:rPr>
                              </m:ctrlPr>
                            </m:sSupPr>
                            <m:e>
                              <m:r>
                                <m:rPr>
                                  <m:sty m:val="p"/>
                                </m:rPr>
                                <a:rPr kumimoji="0" lang="en-US" altLang="en-US" sz="1800" b="0" i="1" u="none" strike="noStrike" cap="none" normalizeH="0" baseline="0" smtClean="0">
                                  <a:ln>
                                    <a:noFill/>
                                  </a:ln>
                                  <a:solidFill>
                                    <a:schemeClr val="tx1"/>
                                  </a:solidFill>
                                  <a:effectLst/>
                                  <a:latin typeface="Cambria Math" panose="02040503050406030204" pitchFamily="18" charset="0"/>
                                </a:rPr>
                                <m:t>M</m:t>
                              </m:r>
                            </m:e>
                            <m:sup>
                              <m:r>
                                <a:rPr kumimoji="0" lang="en-US" altLang="en-US" sz="1800" b="0" i="1" u="none" strike="noStrike" cap="none" normalizeH="0" baseline="0" smtClean="0">
                                  <a:ln>
                                    <a:noFill/>
                                  </a:ln>
                                  <a:solidFill>
                                    <a:schemeClr val="tx1"/>
                                  </a:solidFill>
                                  <a:effectLst/>
                                  <a:latin typeface="Cambria Math" panose="02040503050406030204" pitchFamily="18" charset="0"/>
                                </a:rPr>
                                <m:t>2</m:t>
                              </m:r>
                            </m:sup>
                          </m:sSup>
                          <m:r>
                            <a:rPr kumimoji="0" lang="en-US" altLang="en-US" sz="1800" b="0" i="1" u="none" strike="noStrike" cap="none" normalizeH="0" baseline="0" smtClean="0">
                              <a:ln>
                                <a:noFill/>
                              </a:ln>
                              <a:solidFill>
                                <a:schemeClr val="tx1"/>
                              </a:solidFill>
                              <a:effectLst/>
                              <a:latin typeface="Cambria Math" panose="02040503050406030204" pitchFamily="18" charset="0"/>
                            </a:rPr>
                            <m:t>−1</m:t>
                          </m:r>
                        </m:den>
                      </m:f>
                      <m:f>
                        <m:fPr>
                          <m:ctrlPr>
                            <a:rPr kumimoji="0" lang="en-US" altLang="en-US" sz="1800" b="0" i="1" u="none" strike="noStrike" cap="none" normalizeH="0" baseline="0" smtClean="0">
                              <a:ln>
                                <a:noFill/>
                              </a:ln>
                              <a:solidFill>
                                <a:schemeClr val="tx1"/>
                              </a:solidFill>
                              <a:effectLst/>
                              <a:latin typeface="Cambria Math" panose="02040503050406030204" pitchFamily="18" charset="0"/>
                            </a:rPr>
                          </m:ctrlPr>
                        </m:fPr>
                        <m:num>
                          <m:r>
                            <m:rPr>
                              <m:sty m:val="p"/>
                            </m:rPr>
                            <a:rPr kumimoji="0" lang="en-US" altLang="en-US" sz="1800" b="0" i="1" u="none" strike="noStrike" cap="none" normalizeH="0" baseline="0" smtClean="0">
                              <a:ln>
                                <a:noFill/>
                              </a:ln>
                              <a:solidFill>
                                <a:schemeClr val="tx1"/>
                              </a:solidFill>
                              <a:effectLst/>
                              <a:latin typeface="Cambria Math" panose="02040503050406030204" pitchFamily="18" charset="0"/>
                            </a:rPr>
                            <m:t>dA</m:t>
                          </m:r>
                        </m:num>
                        <m:den>
                          <m:r>
                            <m:rPr>
                              <m:sty m:val="p"/>
                            </m:rPr>
                            <a:rPr kumimoji="0" lang="en-US" altLang="en-US" sz="1800" b="0" i="1" u="none" strike="noStrike" cap="none" normalizeH="0" baseline="0" smtClean="0">
                              <a:ln>
                                <a:noFill/>
                              </a:ln>
                              <a:solidFill>
                                <a:schemeClr val="tx1"/>
                              </a:solidFill>
                              <a:effectLst/>
                              <a:latin typeface="Cambria Math" panose="02040503050406030204" pitchFamily="18" charset="0"/>
                            </a:rPr>
                            <m:t>A</m:t>
                          </m:r>
                        </m:den>
                      </m:f>
                    </m:oMath>
                  </m:oMathPara>
                </a14:m>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mc:Choice>
        <mc:Fallback xmlns="">
          <p:sp>
            <p:nvSpPr>
              <p:cNvPr id="5" name="Rectangle 1">
                <a:extLst>
                  <a:ext uri="{FF2B5EF4-FFF2-40B4-BE49-F238E27FC236}">
                    <a16:creationId xmlns:a16="http://schemas.microsoft.com/office/drawing/2014/main" id="{76E10123-4B4B-3939-AF36-DBFC99C12076}"/>
                  </a:ext>
                </a:extLst>
              </p:cNvPr>
              <p:cNvSpPr>
                <a:spLocks noRot="1" noChangeAspect="1" noMove="1" noResize="1" noEditPoints="1" noAdjustHandles="1" noChangeArrowheads="1" noChangeShapeType="1" noTextEdit="1"/>
              </p:cNvSpPr>
              <p:nvPr/>
            </p:nvSpPr>
            <p:spPr bwMode="auto">
              <a:xfrm>
                <a:off x="838200" y="3930476"/>
                <a:ext cx="1636217" cy="572208"/>
              </a:xfrm>
              <a:prstGeom prst="rect">
                <a:avLst/>
              </a:prstGeom>
              <a:blipFill>
                <a:blip r:embed="rId3"/>
                <a:stretch>
                  <a:fillRect/>
                </a:stretch>
              </a:blip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r>
                  <a:rPr lang="en-US">
                    <a:noFill/>
                  </a:rPr>
                  <a:t> </a:t>
                </a:r>
              </a:p>
            </p:txBody>
          </p:sp>
        </mc:Fallback>
      </mc:AlternateContent>
      <p:pic>
        <p:nvPicPr>
          <p:cNvPr id="9" name="Picture 8">
            <a:extLst>
              <a:ext uri="{FF2B5EF4-FFF2-40B4-BE49-F238E27FC236}">
                <a16:creationId xmlns:a16="http://schemas.microsoft.com/office/drawing/2014/main" id="{019427B5-2DF4-DBD5-42E8-E79E1BC3D320}"/>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846676" y="3320574"/>
            <a:ext cx="3249324" cy="1846738"/>
          </a:xfrm>
          <a:prstGeom prst="rect">
            <a:avLst/>
          </a:prstGeom>
        </p:spPr>
      </p:pic>
      <p:pic>
        <p:nvPicPr>
          <p:cNvPr id="11" name="Picture 10">
            <a:extLst>
              <a:ext uri="{FF2B5EF4-FFF2-40B4-BE49-F238E27FC236}">
                <a16:creationId xmlns:a16="http://schemas.microsoft.com/office/drawing/2014/main" id="{7BD31381-7A56-7EC2-BF5B-4A2AC9612CB6}"/>
              </a:ext>
            </a:extLst>
          </p:cNvPr>
          <p:cNvPicPr>
            <a:picLocks noChangeAspect="1"/>
          </p:cNvPicPr>
          <p:nvPr/>
        </p:nvPicPr>
        <p:blipFill>
          <a:blip r:embed="rId5">
            <a:extLst>
              <a:ext uri="{BEBA8EAE-BF5A-486C-A8C5-ECC9F3942E4B}">
                <a14:imgProps xmlns:a14="http://schemas.microsoft.com/office/drawing/2010/main">
                  <a14:imgLayer r:embed="rId6">
                    <a14:imgEffect>
                      <a14:saturation sat="0"/>
                    </a14:imgEffect>
                  </a14:imgLayer>
                </a14:imgProps>
              </a:ext>
              <a:ext uri="{28A0092B-C50C-407E-A947-70E740481C1C}">
                <a14:useLocalDpi xmlns:a14="http://schemas.microsoft.com/office/drawing/2010/main" val="0"/>
              </a:ext>
            </a:extLst>
          </a:blip>
          <a:stretch>
            <a:fillRect/>
          </a:stretch>
        </p:blipFill>
        <p:spPr>
          <a:xfrm>
            <a:off x="7310646" y="1690688"/>
            <a:ext cx="3361211" cy="3968259"/>
          </a:xfrm>
          <a:prstGeom prst="rect">
            <a:avLst/>
          </a:prstGeom>
        </p:spPr>
      </p:pic>
      <p:cxnSp>
        <p:nvCxnSpPr>
          <p:cNvPr id="12" name="Straight Connector 11">
            <a:extLst>
              <a:ext uri="{FF2B5EF4-FFF2-40B4-BE49-F238E27FC236}">
                <a16:creationId xmlns:a16="http://schemas.microsoft.com/office/drawing/2014/main" id="{AD2B313B-8591-906A-0132-6079F85297AD}"/>
              </a:ext>
            </a:extLst>
          </p:cNvPr>
          <p:cNvCxnSpPr>
            <a:cxnSpLocks/>
          </p:cNvCxnSpPr>
          <p:nvPr/>
        </p:nvCxnSpPr>
        <p:spPr>
          <a:xfrm rot="16200000">
            <a:off x="1404927" y="5714268"/>
            <a:ext cx="0" cy="706230"/>
          </a:xfrm>
          <a:prstGeom prst="line">
            <a:avLst/>
          </a:prstGeom>
          <a:ln w="5715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11155398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2676980-B8BB-F162-B9CD-9B87B9AA67A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892BFEF-B81E-D70C-F926-4D46E64262A8}"/>
              </a:ext>
            </a:extLst>
          </p:cNvPr>
          <p:cNvSpPr>
            <a:spLocks noGrp="1"/>
          </p:cNvSpPr>
          <p:nvPr>
            <p:ph type="title"/>
          </p:nvPr>
        </p:nvSpPr>
        <p:spPr/>
        <p:txBody>
          <a:bodyPr/>
          <a:lstStyle/>
          <a:p>
            <a:r>
              <a:rPr lang="en-US" dirty="0"/>
              <a:t>Cryogenic LREs</a:t>
            </a:r>
          </a:p>
        </p:txBody>
      </p:sp>
      <p:sp>
        <p:nvSpPr>
          <p:cNvPr id="3" name="TextBox 2">
            <a:extLst>
              <a:ext uri="{FF2B5EF4-FFF2-40B4-BE49-F238E27FC236}">
                <a16:creationId xmlns:a16="http://schemas.microsoft.com/office/drawing/2014/main" id="{4459927B-91F2-A1B8-2767-13CE12045386}"/>
              </a:ext>
            </a:extLst>
          </p:cNvPr>
          <p:cNvSpPr txBox="1"/>
          <p:nvPr/>
        </p:nvSpPr>
        <p:spPr>
          <a:xfrm>
            <a:off x="718931" y="1690688"/>
            <a:ext cx="6986667" cy="1477328"/>
          </a:xfrm>
          <a:prstGeom prst="rect">
            <a:avLst/>
          </a:prstGeom>
          <a:noFill/>
        </p:spPr>
        <p:txBody>
          <a:bodyPr wrap="square" rtlCol="0">
            <a:spAutoFit/>
          </a:bodyPr>
          <a:lstStyle/>
          <a:p>
            <a:r>
              <a:rPr lang="en-US" b="1" dirty="0"/>
              <a:t>A Cryogenic Liquid Rocket Engine</a:t>
            </a:r>
            <a:r>
              <a:rPr lang="en-US" dirty="0"/>
              <a:t>, uses cryogenic Fuel and oxidizer as propellants .</a:t>
            </a:r>
            <a:r>
              <a:rPr lang="en-US" b="1" dirty="0"/>
              <a:t>Cryogenic engines are excellent in providing very high specific impulse across a range of design conditions.</a:t>
            </a:r>
            <a:r>
              <a:rPr lang="en-US" dirty="0"/>
              <a:t> Providing high specific impulse making it suitable for both light, medium and heavy payload applications and at upper, medium and low orbit applications.</a:t>
            </a:r>
          </a:p>
        </p:txBody>
      </p:sp>
      <p:cxnSp>
        <p:nvCxnSpPr>
          <p:cNvPr id="12" name="Straight Connector 11">
            <a:extLst>
              <a:ext uri="{FF2B5EF4-FFF2-40B4-BE49-F238E27FC236}">
                <a16:creationId xmlns:a16="http://schemas.microsoft.com/office/drawing/2014/main" id="{B4A29FCE-0EF5-9901-4716-57EC136800AF}"/>
              </a:ext>
            </a:extLst>
          </p:cNvPr>
          <p:cNvCxnSpPr>
            <a:cxnSpLocks/>
          </p:cNvCxnSpPr>
          <p:nvPr/>
        </p:nvCxnSpPr>
        <p:spPr>
          <a:xfrm rot="16200000">
            <a:off x="1404927" y="5714268"/>
            <a:ext cx="0" cy="706230"/>
          </a:xfrm>
          <a:prstGeom prst="line">
            <a:avLst/>
          </a:prstGeom>
          <a:ln w="57150">
            <a:solidFill>
              <a:schemeClr val="tx1"/>
            </a:solidFill>
          </a:ln>
        </p:spPr>
        <p:style>
          <a:lnRef idx="1">
            <a:schemeClr val="accent1"/>
          </a:lnRef>
          <a:fillRef idx="0">
            <a:schemeClr val="accent1"/>
          </a:fillRef>
          <a:effectRef idx="0">
            <a:schemeClr val="accent1"/>
          </a:effectRef>
          <a:fontRef idx="minor">
            <a:schemeClr val="tx1"/>
          </a:fontRef>
        </p:style>
      </p:cxnSp>
      <p:pic>
        <p:nvPicPr>
          <p:cNvPr id="6" name="Picture 5">
            <a:extLst>
              <a:ext uri="{FF2B5EF4-FFF2-40B4-BE49-F238E27FC236}">
                <a16:creationId xmlns:a16="http://schemas.microsoft.com/office/drawing/2014/main" id="{45D1A311-FA4D-1ACF-7881-A094ABE264F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918450" y="1690688"/>
            <a:ext cx="3938270" cy="3791282"/>
          </a:xfrm>
          <a:prstGeom prst="rect">
            <a:avLst/>
          </a:prstGeom>
        </p:spPr>
      </p:pic>
      <p:grpSp>
        <p:nvGrpSpPr>
          <p:cNvPr id="10" name="Group 9">
            <a:extLst>
              <a:ext uri="{FF2B5EF4-FFF2-40B4-BE49-F238E27FC236}">
                <a16:creationId xmlns:a16="http://schemas.microsoft.com/office/drawing/2014/main" id="{264F150B-A7A8-8D5A-779D-520D7EA1927C}"/>
              </a:ext>
            </a:extLst>
          </p:cNvPr>
          <p:cNvGrpSpPr/>
          <p:nvPr/>
        </p:nvGrpSpPr>
        <p:grpSpPr>
          <a:xfrm>
            <a:off x="838200" y="4493579"/>
            <a:ext cx="4266766" cy="946190"/>
            <a:chOff x="2642283" y="3858027"/>
            <a:chExt cx="4266766" cy="946190"/>
          </a:xfrm>
        </p:grpSpPr>
        <p:sp>
          <p:nvSpPr>
            <p:cNvPr id="7" name="TextBox 6">
              <a:extLst>
                <a:ext uri="{FF2B5EF4-FFF2-40B4-BE49-F238E27FC236}">
                  <a16:creationId xmlns:a16="http://schemas.microsoft.com/office/drawing/2014/main" id="{8321E9AD-639F-6F4B-D057-85C6A0E59947}"/>
                </a:ext>
              </a:extLst>
            </p:cNvPr>
            <p:cNvSpPr txBox="1"/>
            <p:nvPr/>
          </p:nvSpPr>
          <p:spPr>
            <a:xfrm>
              <a:off x="2642283" y="3858027"/>
              <a:ext cx="1878656" cy="369332"/>
            </a:xfrm>
            <a:prstGeom prst="rect">
              <a:avLst/>
            </a:prstGeom>
            <a:noFill/>
          </p:spPr>
          <p:txBody>
            <a:bodyPr wrap="none" rtlCol="0">
              <a:spAutoFit/>
            </a:bodyPr>
            <a:lstStyle/>
            <a:p>
              <a:r>
                <a:rPr lang="en-US" i="1" dirty="0"/>
                <a:t>Notable example: </a:t>
              </a:r>
            </a:p>
          </p:txBody>
        </p:sp>
        <p:sp>
          <p:nvSpPr>
            <p:cNvPr id="8" name="TextBox 7">
              <a:extLst>
                <a:ext uri="{FF2B5EF4-FFF2-40B4-BE49-F238E27FC236}">
                  <a16:creationId xmlns:a16="http://schemas.microsoft.com/office/drawing/2014/main" id="{2B04FB37-136B-9BF2-0CF2-25B27B93D14D}"/>
                </a:ext>
              </a:extLst>
            </p:cNvPr>
            <p:cNvSpPr txBox="1"/>
            <p:nvPr/>
          </p:nvSpPr>
          <p:spPr>
            <a:xfrm>
              <a:off x="4406313" y="3880887"/>
              <a:ext cx="2502736" cy="923330"/>
            </a:xfrm>
            <a:prstGeom prst="rect">
              <a:avLst/>
            </a:prstGeom>
            <a:noFill/>
          </p:spPr>
          <p:txBody>
            <a:bodyPr wrap="none" rtlCol="0">
              <a:spAutoFit/>
            </a:bodyPr>
            <a:lstStyle/>
            <a:p>
              <a:pPr marL="285750" indent="-285750">
                <a:buFont typeface="Arial" panose="020B0604020202020204" pitchFamily="34" charset="0"/>
                <a:buChar char="•"/>
              </a:pPr>
              <a:r>
                <a:rPr lang="en-US" i="1" dirty="0"/>
                <a:t>NASA- RL10 class</a:t>
              </a:r>
            </a:p>
            <a:p>
              <a:pPr marL="285750" indent="-285750">
                <a:buFont typeface="Arial" panose="020B0604020202020204" pitchFamily="34" charset="0"/>
                <a:buChar char="•"/>
              </a:pPr>
              <a:r>
                <a:rPr lang="en-US" i="1" dirty="0"/>
                <a:t>SpaceX- MERLIN class</a:t>
              </a:r>
            </a:p>
            <a:p>
              <a:pPr marL="285750" indent="-285750">
                <a:buFont typeface="Arial" panose="020B0604020202020204" pitchFamily="34" charset="0"/>
                <a:buChar char="•"/>
              </a:pPr>
              <a:r>
                <a:rPr lang="en-US" i="1" dirty="0"/>
                <a:t>ISRO- CE20 </a:t>
              </a:r>
            </a:p>
          </p:txBody>
        </p:sp>
      </p:grpSp>
    </p:spTree>
    <p:extLst>
      <p:ext uri="{BB962C8B-B14F-4D97-AF65-F5344CB8AC3E}">
        <p14:creationId xmlns:p14="http://schemas.microsoft.com/office/powerpoint/2010/main" val="376050335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A55177-6B11-EFEA-776E-DD99E6FB067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339466E-74D4-2E19-5EB5-4D6573BA5DF7}"/>
              </a:ext>
            </a:extLst>
          </p:cNvPr>
          <p:cNvSpPr>
            <a:spLocks noGrp="1"/>
          </p:cNvSpPr>
          <p:nvPr>
            <p:ph type="title"/>
          </p:nvPr>
        </p:nvSpPr>
        <p:spPr/>
        <p:txBody>
          <a:bodyPr/>
          <a:lstStyle/>
          <a:p>
            <a:r>
              <a:rPr lang="en-US" dirty="0"/>
              <a:t>Combustion Instability</a:t>
            </a:r>
          </a:p>
        </p:txBody>
      </p:sp>
      <p:sp>
        <p:nvSpPr>
          <p:cNvPr id="3" name="TextBox 2">
            <a:extLst>
              <a:ext uri="{FF2B5EF4-FFF2-40B4-BE49-F238E27FC236}">
                <a16:creationId xmlns:a16="http://schemas.microsoft.com/office/drawing/2014/main" id="{56E33FAD-B832-6554-95A7-A2445F128CB8}"/>
              </a:ext>
            </a:extLst>
          </p:cNvPr>
          <p:cNvSpPr txBox="1"/>
          <p:nvPr/>
        </p:nvSpPr>
        <p:spPr>
          <a:xfrm>
            <a:off x="1051812" y="3168759"/>
            <a:ext cx="6986667" cy="2062103"/>
          </a:xfrm>
          <a:prstGeom prst="rect">
            <a:avLst/>
          </a:prstGeom>
          <a:noFill/>
        </p:spPr>
        <p:txBody>
          <a:bodyPr wrap="square" rtlCol="0">
            <a:spAutoFit/>
          </a:bodyPr>
          <a:lstStyle/>
          <a:p>
            <a:r>
              <a:rPr lang="en-US" sz="2000" b="1" dirty="0"/>
              <a:t>Types of instabilities</a:t>
            </a:r>
            <a:r>
              <a:rPr lang="en-US" sz="2000" dirty="0"/>
              <a:t>:</a:t>
            </a:r>
          </a:p>
          <a:p>
            <a:pPr marL="742950" lvl="1" indent="-285750">
              <a:buFont typeface="Arial" panose="020B0604020202020204" pitchFamily="34" charset="0"/>
              <a:buChar char="•"/>
            </a:pPr>
            <a:r>
              <a:rPr lang="en-US" dirty="0"/>
              <a:t>Low frequency (10-400Hz)</a:t>
            </a:r>
            <a:r>
              <a:rPr lang="en-US" b="1" i="1" dirty="0"/>
              <a:t>{chug}</a:t>
            </a:r>
          </a:p>
          <a:p>
            <a:pPr lvl="2"/>
            <a:r>
              <a:rPr lang="en-US" dirty="0"/>
              <a:t>Source- Feed &amp; Chamber Design </a:t>
            </a:r>
          </a:p>
          <a:p>
            <a:pPr marL="742950" lvl="1" indent="-285750">
              <a:buFont typeface="Arial" panose="020B0604020202020204" pitchFamily="34" charset="0"/>
              <a:buChar char="•"/>
            </a:pPr>
            <a:r>
              <a:rPr lang="en-US" dirty="0"/>
              <a:t>Mid frequency (400-1000Hz)</a:t>
            </a:r>
            <a:r>
              <a:rPr lang="en-US" b="1" i="1" dirty="0"/>
              <a:t>{Buzz}</a:t>
            </a:r>
          </a:p>
          <a:p>
            <a:pPr lvl="2"/>
            <a:r>
              <a:rPr lang="en-US" dirty="0"/>
              <a:t>Source- Injector Manifold resonance</a:t>
            </a:r>
          </a:p>
          <a:p>
            <a:pPr marL="742950" lvl="1" indent="-285750">
              <a:buFont typeface="Arial" panose="020B0604020202020204" pitchFamily="34" charset="0"/>
              <a:buChar char="•"/>
            </a:pPr>
            <a:r>
              <a:rPr lang="en-US" dirty="0"/>
              <a:t>High frequency (&lt;1000Hz) </a:t>
            </a:r>
            <a:r>
              <a:rPr lang="en-US" b="1" i="1" dirty="0"/>
              <a:t>{Screech}</a:t>
            </a:r>
          </a:p>
          <a:p>
            <a:pPr lvl="2"/>
            <a:r>
              <a:rPr lang="en-US" dirty="0"/>
              <a:t>Source-Chamber acoustics</a:t>
            </a:r>
          </a:p>
        </p:txBody>
      </p:sp>
      <p:cxnSp>
        <p:nvCxnSpPr>
          <p:cNvPr id="12" name="Straight Connector 11">
            <a:extLst>
              <a:ext uri="{FF2B5EF4-FFF2-40B4-BE49-F238E27FC236}">
                <a16:creationId xmlns:a16="http://schemas.microsoft.com/office/drawing/2014/main" id="{4F98C001-B9AC-BFFF-B477-403AB69CA3B6}"/>
              </a:ext>
            </a:extLst>
          </p:cNvPr>
          <p:cNvCxnSpPr>
            <a:cxnSpLocks/>
          </p:cNvCxnSpPr>
          <p:nvPr/>
        </p:nvCxnSpPr>
        <p:spPr>
          <a:xfrm rot="16200000">
            <a:off x="1404927" y="5714268"/>
            <a:ext cx="0" cy="706230"/>
          </a:xfrm>
          <a:prstGeom prst="line">
            <a:avLst/>
          </a:prstGeom>
          <a:ln w="57150">
            <a:solidFill>
              <a:schemeClr val="tx1"/>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E5A3E539-5009-9DF1-0C10-275567831E09}"/>
                  </a:ext>
                </a:extLst>
              </p:cNvPr>
              <p:cNvSpPr txBox="1"/>
              <p:nvPr/>
            </p:nvSpPr>
            <p:spPr>
              <a:xfrm>
                <a:off x="7050912" y="4184422"/>
                <a:ext cx="4137158" cy="567976"/>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m:rPr>
                          <m:sty m:val="p"/>
                        </m:rPr>
                        <a:rPr lang="en-US" b="0" i="1" smtClean="0">
                          <a:latin typeface="Cambria Math" panose="02040503050406030204" pitchFamily="18" charset="0"/>
                        </a:rPr>
                        <m:t>Instability</m:t>
                      </m:r>
                      <m:r>
                        <a:rPr lang="en-US" b="0" i="1" smtClean="0">
                          <a:latin typeface="Cambria Math" panose="02040503050406030204" pitchFamily="18" charset="0"/>
                        </a:rPr>
                        <m:t> </m:t>
                      </m:r>
                      <m:r>
                        <m:rPr>
                          <m:sty m:val="p"/>
                        </m:rPr>
                        <a:rPr lang="en-US" b="0" i="1" smtClean="0">
                          <a:latin typeface="Cambria Math" panose="02040503050406030204" pitchFamily="18" charset="0"/>
                        </a:rPr>
                        <m:t>growth</m:t>
                      </m:r>
                      <m:r>
                        <a:rPr lang="en-US" b="0" i="1" smtClean="0">
                          <a:latin typeface="Cambria Math" panose="02040503050406030204" pitchFamily="18" charset="0"/>
                        </a:rPr>
                        <m:t> =</m:t>
                      </m:r>
                      <m:nary>
                        <m:naryPr>
                          <m:limLoc m:val="subSup"/>
                          <m:grow m:val="on"/>
                          <m:supHide m:val="on"/>
                          <m:ctrlPr>
                            <a:rPr lang="en-US" i="1" smtClean="0">
                              <a:latin typeface="Cambria Math" panose="02040503050406030204" pitchFamily="18" charset="0"/>
                            </a:rPr>
                          </m:ctrlPr>
                        </m:naryPr>
                        <m:sub>
                          <m:r>
                            <a:rPr lang="en-US" i="1" smtClean="0">
                              <a:latin typeface="Cambria Math" panose="02040503050406030204" pitchFamily="18" charset="0"/>
                            </a:rPr>
                            <m:t>𝑉</m:t>
                          </m:r>
                        </m:sub>
                        <m:sup/>
                        <m:e>
                          <m:acc>
                            <m:accPr>
                              <m:chr m:val="̅"/>
                              <m:ctrlPr>
                                <a:rPr lang="en-US" i="1" smtClean="0">
                                  <a:latin typeface="Cambria Math" panose="02040503050406030204" pitchFamily="18" charset="0"/>
                                </a:rPr>
                              </m:ctrlPr>
                            </m:accPr>
                            <m:e>
                              <m:sSup>
                                <m:sSupPr>
                                  <m:ctrlPr>
                                    <a:rPr lang="en-US" i="1" smtClean="0">
                                      <a:latin typeface="Cambria Math" panose="02040503050406030204" pitchFamily="18" charset="0"/>
                                    </a:rPr>
                                  </m:ctrlPr>
                                </m:sSupPr>
                                <m:e>
                                  <m:r>
                                    <a:rPr lang="en-US" i="1" smtClean="0">
                                      <a:latin typeface="Cambria Math" panose="02040503050406030204" pitchFamily="18" charset="0"/>
                                    </a:rPr>
                                    <m:t>𝑝</m:t>
                                  </m:r>
                                </m:e>
                                <m:sup>
                                  <m:r>
                                    <a:rPr lang="en-US" i="1" smtClean="0">
                                      <a:latin typeface="Cambria Math" panose="02040503050406030204" pitchFamily="18" charset="0"/>
                                    </a:rPr>
                                    <m:t>′</m:t>
                                  </m:r>
                                </m:sup>
                              </m:sSup>
                              <m:d>
                                <m:dPr>
                                  <m:ctrlPr>
                                    <a:rPr lang="en-US" i="1" smtClean="0">
                                      <a:latin typeface="Cambria Math" panose="02040503050406030204" pitchFamily="18" charset="0"/>
                                    </a:rPr>
                                  </m:ctrlPr>
                                </m:dPr>
                                <m:e>
                                  <m:r>
                                    <a:rPr lang="en-US" i="1" smtClean="0">
                                      <a:latin typeface="Cambria Math" panose="02040503050406030204" pitchFamily="18" charset="0"/>
                                    </a:rPr>
                                    <m:t>𝑡</m:t>
                                  </m:r>
                                </m:e>
                              </m:d>
                              <m:sSup>
                                <m:sSupPr>
                                  <m:ctrlPr>
                                    <a:rPr lang="en-US" i="1" smtClean="0">
                                      <a:latin typeface="Cambria Math" panose="02040503050406030204" pitchFamily="18" charset="0"/>
                                    </a:rPr>
                                  </m:ctrlPr>
                                </m:sSupPr>
                                <m:e>
                                  <m:r>
                                    <a:rPr lang="en-US" i="1" smtClean="0">
                                      <a:latin typeface="Cambria Math" panose="02040503050406030204" pitchFamily="18" charset="0"/>
                                    </a:rPr>
                                    <m:t>𝑞</m:t>
                                  </m:r>
                                </m:e>
                                <m:sup>
                                  <m:r>
                                    <a:rPr lang="en-US" i="1" smtClean="0">
                                      <a:latin typeface="Cambria Math" panose="02040503050406030204" pitchFamily="18" charset="0"/>
                                    </a:rPr>
                                    <m:t>′</m:t>
                                  </m:r>
                                </m:sup>
                              </m:sSup>
                              <m:d>
                                <m:dPr>
                                  <m:ctrlPr>
                                    <a:rPr lang="en-US" i="1" smtClean="0">
                                      <a:latin typeface="Cambria Math" panose="02040503050406030204" pitchFamily="18" charset="0"/>
                                    </a:rPr>
                                  </m:ctrlPr>
                                </m:dPr>
                                <m:e>
                                  <m:r>
                                    <a:rPr lang="en-US" i="1" smtClean="0">
                                      <a:latin typeface="Cambria Math" panose="02040503050406030204" pitchFamily="18" charset="0"/>
                                    </a:rPr>
                                    <m:t>𝑡</m:t>
                                  </m:r>
                                </m:e>
                              </m:d>
                            </m:e>
                          </m:acc>
                          <m:r>
                            <a:rPr lang="en-US" i="1" smtClean="0">
                              <a:latin typeface="Cambria Math" panose="02040503050406030204" pitchFamily="18" charset="0"/>
                            </a:rPr>
                            <m:t>ⅆ</m:t>
                          </m:r>
                          <m:r>
                            <a:rPr lang="en-US" i="1" smtClean="0">
                              <a:latin typeface="Cambria Math" panose="02040503050406030204" pitchFamily="18" charset="0"/>
                            </a:rPr>
                            <m:t>𝑉</m:t>
                          </m:r>
                        </m:e>
                      </m:nary>
                      <m:r>
                        <a:rPr lang="en-US" i="1" smtClean="0">
                          <a:latin typeface="Cambria Math" panose="02040503050406030204" pitchFamily="18" charset="0"/>
                        </a:rPr>
                        <m:t>&gt;0</m:t>
                      </m:r>
                    </m:oMath>
                  </m:oMathPara>
                </a14:m>
                <a:endParaRPr lang="en-US" dirty="0"/>
              </a:p>
            </p:txBody>
          </p:sp>
        </mc:Choice>
        <mc:Fallback xmlns="">
          <p:sp>
            <p:nvSpPr>
              <p:cNvPr id="9" name="TextBox 8">
                <a:extLst>
                  <a:ext uri="{FF2B5EF4-FFF2-40B4-BE49-F238E27FC236}">
                    <a16:creationId xmlns:a16="http://schemas.microsoft.com/office/drawing/2014/main" id="{E5A3E539-5009-9DF1-0C10-275567831E09}"/>
                  </a:ext>
                </a:extLst>
              </p:cNvPr>
              <p:cNvSpPr txBox="1">
                <a:spLocks noRot="1" noChangeAspect="1" noMove="1" noResize="1" noEditPoints="1" noAdjustHandles="1" noChangeArrowheads="1" noChangeShapeType="1" noTextEdit="1"/>
              </p:cNvSpPr>
              <p:nvPr/>
            </p:nvSpPr>
            <p:spPr>
              <a:xfrm>
                <a:off x="7050912" y="4184422"/>
                <a:ext cx="4137158" cy="567976"/>
              </a:xfrm>
              <a:prstGeom prst="rect">
                <a:avLst/>
              </a:prstGeom>
              <a:blipFill>
                <a:blip r:embed="rId2"/>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1" name="TextBox 10">
                <a:extLst>
                  <a:ext uri="{FF2B5EF4-FFF2-40B4-BE49-F238E27FC236}">
                    <a16:creationId xmlns:a16="http://schemas.microsoft.com/office/drawing/2014/main" id="{B993D587-BF12-BC6B-68A6-00AD82A0033E}"/>
                  </a:ext>
                </a:extLst>
              </p:cNvPr>
              <p:cNvSpPr txBox="1"/>
              <p:nvPr/>
            </p:nvSpPr>
            <p:spPr>
              <a:xfrm>
                <a:off x="7982258" y="4893637"/>
                <a:ext cx="365549" cy="215444"/>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sz="1400" i="1" smtClean="0">
                          <a:latin typeface="Cambria Math" panose="02040503050406030204" pitchFamily="18" charset="0"/>
                        </a:rPr>
                        <m:t>𝑝</m:t>
                      </m:r>
                      <m:d>
                        <m:dPr>
                          <m:ctrlPr>
                            <a:rPr lang="en-US" sz="1400" i="1" smtClean="0">
                              <a:latin typeface="Cambria Math" panose="02040503050406030204" pitchFamily="18" charset="0"/>
                            </a:rPr>
                          </m:ctrlPr>
                        </m:dPr>
                        <m:e>
                          <m:r>
                            <a:rPr lang="en-US" sz="1400" i="1" smtClean="0">
                              <a:latin typeface="Cambria Math" panose="02040503050406030204" pitchFamily="18" charset="0"/>
                            </a:rPr>
                            <m:t>𝑡</m:t>
                          </m:r>
                        </m:e>
                      </m:d>
                    </m:oMath>
                  </m:oMathPara>
                </a14:m>
                <a:endParaRPr lang="en-US" sz="1400" dirty="0"/>
              </a:p>
            </p:txBody>
          </p:sp>
        </mc:Choice>
        <mc:Fallback xmlns="">
          <p:sp>
            <p:nvSpPr>
              <p:cNvPr id="11" name="TextBox 10">
                <a:extLst>
                  <a:ext uri="{FF2B5EF4-FFF2-40B4-BE49-F238E27FC236}">
                    <a16:creationId xmlns:a16="http://schemas.microsoft.com/office/drawing/2014/main" id="{B993D587-BF12-BC6B-68A6-00AD82A0033E}"/>
                  </a:ext>
                </a:extLst>
              </p:cNvPr>
              <p:cNvSpPr txBox="1">
                <a:spLocks noRot="1" noChangeAspect="1" noMove="1" noResize="1" noEditPoints="1" noAdjustHandles="1" noChangeArrowheads="1" noChangeShapeType="1" noTextEdit="1"/>
              </p:cNvSpPr>
              <p:nvPr/>
            </p:nvSpPr>
            <p:spPr>
              <a:xfrm>
                <a:off x="7982258" y="4893637"/>
                <a:ext cx="365549" cy="215444"/>
              </a:xfrm>
              <a:prstGeom prst="rect">
                <a:avLst/>
              </a:prstGeom>
              <a:blipFill>
                <a:blip r:embed="rId3"/>
                <a:stretch>
                  <a:fillRect l="-10000" b="-2285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3" name="TextBox 12">
                <a:extLst>
                  <a:ext uri="{FF2B5EF4-FFF2-40B4-BE49-F238E27FC236}">
                    <a16:creationId xmlns:a16="http://schemas.microsoft.com/office/drawing/2014/main" id="{DA10E94C-8F8A-21AB-853F-8DFC33F9729C}"/>
                  </a:ext>
                </a:extLst>
              </p:cNvPr>
              <p:cNvSpPr txBox="1"/>
              <p:nvPr/>
            </p:nvSpPr>
            <p:spPr>
              <a:xfrm>
                <a:off x="7981295" y="5262115"/>
                <a:ext cx="365613" cy="215444"/>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sz="1400" i="1">
                          <a:latin typeface="Cambria Math" panose="02040503050406030204" pitchFamily="18" charset="0"/>
                        </a:rPr>
                        <m:t>𝑞</m:t>
                      </m:r>
                      <m:d>
                        <m:dPr>
                          <m:ctrlPr>
                            <a:rPr lang="en-US" sz="1400" i="1">
                              <a:latin typeface="Cambria Math" panose="02040503050406030204" pitchFamily="18" charset="0"/>
                            </a:rPr>
                          </m:ctrlPr>
                        </m:dPr>
                        <m:e>
                          <m:r>
                            <a:rPr lang="en-US" sz="1400" i="1">
                              <a:latin typeface="Cambria Math" panose="02040503050406030204" pitchFamily="18" charset="0"/>
                            </a:rPr>
                            <m:t>𝑡</m:t>
                          </m:r>
                        </m:e>
                      </m:d>
                    </m:oMath>
                  </m:oMathPara>
                </a14:m>
                <a:endParaRPr lang="en-US" sz="1400" dirty="0"/>
              </a:p>
            </p:txBody>
          </p:sp>
        </mc:Choice>
        <mc:Fallback xmlns="">
          <p:sp>
            <p:nvSpPr>
              <p:cNvPr id="13" name="TextBox 12">
                <a:extLst>
                  <a:ext uri="{FF2B5EF4-FFF2-40B4-BE49-F238E27FC236}">
                    <a16:creationId xmlns:a16="http://schemas.microsoft.com/office/drawing/2014/main" id="{DA10E94C-8F8A-21AB-853F-8DFC33F9729C}"/>
                  </a:ext>
                </a:extLst>
              </p:cNvPr>
              <p:cNvSpPr txBox="1">
                <a:spLocks noRot="1" noChangeAspect="1" noMove="1" noResize="1" noEditPoints="1" noAdjustHandles="1" noChangeArrowheads="1" noChangeShapeType="1" noTextEdit="1"/>
              </p:cNvSpPr>
              <p:nvPr/>
            </p:nvSpPr>
            <p:spPr>
              <a:xfrm>
                <a:off x="7981295" y="5262115"/>
                <a:ext cx="365613" cy="215444"/>
              </a:xfrm>
              <a:prstGeom prst="rect">
                <a:avLst/>
              </a:prstGeom>
              <a:blipFill>
                <a:blip r:embed="rId4"/>
                <a:stretch>
                  <a:fillRect l="-10000" b="-22222"/>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3090FD05-3278-AEC5-E71A-532BD9346CE2}"/>
                  </a:ext>
                </a:extLst>
              </p:cNvPr>
              <p:cNvSpPr txBox="1"/>
              <p:nvPr/>
            </p:nvSpPr>
            <p:spPr>
              <a:xfrm>
                <a:off x="8113606" y="5630593"/>
                <a:ext cx="100990"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m:t>
                          </m:r>
                        </m:e>
                      </m:acc>
                    </m:oMath>
                  </m:oMathPara>
                </a14:m>
                <a:endParaRPr lang="en-US" dirty="0"/>
              </a:p>
            </p:txBody>
          </p:sp>
        </mc:Choice>
        <mc:Fallback xmlns="">
          <p:sp>
            <p:nvSpPr>
              <p:cNvPr id="14" name="TextBox 13">
                <a:extLst>
                  <a:ext uri="{FF2B5EF4-FFF2-40B4-BE49-F238E27FC236}">
                    <a16:creationId xmlns:a16="http://schemas.microsoft.com/office/drawing/2014/main" id="{3090FD05-3278-AEC5-E71A-532BD9346CE2}"/>
                  </a:ext>
                </a:extLst>
              </p:cNvPr>
              <p:cNvSpPr txBox="1">
                <a:spLocks noRot="1" noChangeAspect="1" noMove="1" noResize="1" noEditPoints="1" noAdjustHandles="1" noChangeArrowheads="1" noChangeShapeType="1" noTextEdit="1"/>
              </p:cNvSpPr>
              <p:nvPr/>
            </p:nvSpPr>
            <p:spPr>
              <a:xfrm>
                <a:off x="8113606" y="5630593"/>
                <a:ext cx="100990" cy="276999"/>
              </a:xfrm>
              <a:prstGeom prst="rect">
                <a:avLst/>
              </a:prstGeom>
              <a:blipFill>
                <a:blip r:embed="rId5"/>
                <a:stretch>
                  <a:fillRect r="-105882"/>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6" name="TextBox 15">
                <a:extLst>
                  <a:ext uri="{FF2B5EF4-FFF2-40B4-BE49-F238E27FC236}">
                    <a16:creationId xmlns:a16="http://schemas.microsoft.com/office/drawing/2014/main" id="{B272E96D-31D0-D67F-38C5-8F03CC3334B1}"/>
                  </a:ext>
                </a:extLst>
              </p:cNvPr>
              <p:cNvSpPr txBox="1"/>
              <p:nvPr/>
            </p:nvSpPr>
            <p:spPr>
              <a:xfrm>
                <a:off x="8582144" y="4893636"/>
                <a:ext cx="246862"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i="1" smtClean="0">
                          <a:latin typeface="Cambria Math" panose="02040503050406030204" pitchFamily="18" charset="0"/>
                          <a:ea typeface="Cambria Math" panose="02040503050406030204" pitchFamily="18" charset="0"/>
                        </a:rPr>
                        <m:t>→</m:t>
                      </m:r>
                    </m:oMath>
                  </m:oMathPara>
                </a14:m>
                <a:endParaRPr lang="en-US" dirty="0"/>
              </a:p>
            </p:txBody>
          </p:sp>
        </mc:Choice>
        <mc:Fallback xmlns="">
          <p:sp>
            <p:nvSpPr>
              <p:cNvPr id="16" name="TextBox 15">
                <a:extLst>
                  <a:ext uri="{FF2B5EF4-FFF2-40B4-BE49-F238E27FC236}">
                    <a16:creationId xmlns:a16="http://schemas.microsoft.com/office/drawing/2014/main" id="{B272E96D-31D0-D67F-38C5-8F03CC3334B1}"/>
                  </a:ext>
                </a:extLst>
              </p:cNvPr>
              <p:cNvSpPr txBox="1">
                <a:spLocks noRot="1" noChangeAspect="1" noMove="1" noResize="1" noEditPoints="1" noAdjustHandles="1" noChangeArrowheads="1" noChangeShapeType="1" noTextEdit="1"/>
              </p:cNvSpPr>
              <p:nvPr/>
            </p:nvSpPr>
            <p:spPr>
              <a:xfrm>
                <a:off x="8582144" y="4893636"/>
                <a:ext cx="246862" cy="276999"/>
              </a:xfrm>
              <a:prstGeom prst="rect">
                <a:avLst/>
              </a:prstGeom>
              <a:blipFill>
                <a:blip r:embed="rId6"/>
                <a:stretch>
                  <a:fillRect l="-15000" r="-1250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7" name="TextBox 16">
                <a:extLst>
                  <a:ext uri="{FF2B5EF4-FFF2-40B4-BE49-F238E27FC236}">
                    <a16:creationId xmlns:a16="http://schemas.microsoft.com/office/drawing/2014/main" id="{670893D8-F270-617D-6659-E182E871151F}"/>
                  </a:ext>
                </a:extLst>
              </p:cNvPr>
              <p:cNvSpPr txBox="1"/>
              <p:nvPr/>
            </p:nvSpPr>
            <p:spPr>
              <a:xfrm>
                <a:off x="8582144" y="5242957"/>
                <a:ext cx="246862"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i="1" smtClean="0">
                          <a:latin typeface="Cambria Math" panose="02040503050406030204" pitchFamily="18" charset="0"/>
                          <a:ea typeface="Cambria Math" panose="02040503050406030204" pitchFamily="18" charset="0"/>
                        </a:rPr>
                        <m:t>→</m:t>
                      </m:r>
                    </m:oMath>
                  </m:oMathPara>
                </a14:m>
                <a:endParaRPr lang="en-US" dirty="0"/>
              </a:p>
            </p:txBody>
          </p:sp>
        </mc:Choice>
        <mc:Fallback xmlns="">
          <p:sp>
            <p:nvSpPr>
              <p:cNvPr id="17" name="TextBox 16">
                <a:extLst>
                  <a:ext uri="{FF2B5EF4-FFF2-40B4-BE49-F238E27FC236}">
                    <a16:creationId xmlns:a16="http://schemas.microsoft.com/office/drawing/2014/main" id="{670893D8-F270-617D-6659-E182E871151F}"/>
                  </a:ext>
                </a:extLst>
              </p:cNvPr>
              <p:cNvSpPr txBox="1">
                <a:spLocks noRot="1" noChangeAspect="1" noMove="1" noResize="1" noEditPoints="1" noAdjustHandles="1" noChangeArrowheads="1" noChangeShapeType="1" noTextEdit="1"/>
              </p:cNvSpPr>
              <p:nvPr/>
            </p:nvSpPr>
            <p:spPr>
              <a:xfrm>
                <a:off x="8582144" y="5242957"/>
                <a:ext cx="246862" cy="276999"/>
              </a:xfrm>
              <a:prstGeom prst="rect">
                <a:avLst/>
              </a:prstGeom>
              <a:blipFill>
                <a:blip r:embed="rId7"/>
                <a:stretch>
                  <a:fillRect l="-15000" r="-1250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8" name="TextBox 17">
                <a:extLst>
                  <a:ext uri="{FF2B5EF4-FFF2-40B4-BE49-F238E27FC236}">
                    <a16:creationId xmlns:a16="http://schemas.microsoft.com/office/drawing/2014/main" id="{FF288D5D-4EC2-10AE-D344-E5474F9FF565}"/>
                  </a:ext>
                </a:extLst>
              </p:cNvPr>
              <p:cNvSpPr txBox="1"/>
              <p:nvPr/>
            </p:nvSpPr>
            <p:spPr>
              <a:xfrm>
                <a:off x="8582144" y="5630593"/>
                <a:ext cx="246862"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i="1" smtClean="0">
                          <a:latin typeface="Cambria Math" panose="02040503050406030204" pitchFamily="18" charset="0"/>
                          <a:ea typeface="Cambria Math" panose="02040503050406030204" pitchFamily="18" charset="0"/>
                        </a:rPr>
                        <m:t>→</m:t>
                      </m:r>
                    </m:oMath>
                  </m:oMathPara>
                </a14:m>
                <a:endParaRPr lang="en-US" dirty="0"/>
              </a:p>
            </p:txBody>
          </p:sp>
        </mc:Choice>
        <mc:Fallback xmlns="">
          <p:sp>
            <p:nvSpPr>
              <p:cNvPr id="18" name="TextBox 17">
                <a:extLst>
                  <a:ext uri="{FF2B5EF4-FFF2-40B4-BE49-F238E27FC236}">
                    <a16:creationId xmlns:a16="http://schemas.microsoft.com/office/drawing/2014/main" id="{FF288D5D-4EC2-10AE-D344-E5474F9FF565}"/>
                  </a:ext>
                </a:extLst>
              </p:cNvPr>
              <p:cNvSpPr txBox="1">
                <a:spLocks noRot="1" noChangeAspect="1" noMove="1" noResize="1" noEditPoints="1" noAdjustHandles="1" noChangeArrowheads="1" noChangeShapeType="1" noTextEdit="1"/>
              </p:cNvSpPr>
              <p:nvPr/>
            </p:nvSpPr>
            <p:spPr>
              <a:xfrm>
                <a:off x="8582144" y="5630593"/>
                <a:ext cx="246862" cy="276999"/>
              </a:xfrm>
              <a:prstGeom prst="rect">
                <a:avLst/>
              </a:prstGeom>
              <a:blipFill>
                <a:blip r:embed="rId8"/>
                <a:stretch>
                  <a:fillRect l="-15000" r="-12500"/>
                </a:stretch>
              </a:blipFill>
            </p:spPr>
            <p:txBody>
              <a:bodyPr/>
              <a:lstStyle/>
              <a:p>
                <a:r>
                  <a:rPr lang="en-US">
                    <a:noFill/>
                  </a:rPr>
                  <a:t> </a:t>
                </a:r>
              </a:p>
            </p:txBody>
          </p:sp>
        </mc:Fallback>
      </mc:AlternateContent>
      <p:sp>
        <p:nvSpPr>
          <p:cNvPr id="19" name="TextBox 18">
            <a:extLst>
              <a:ext uri="{FF2B5EF4-FFF2-40B4-BE49-F238E27FC236}">
                <a16:creationId xmlns:a16="http://schemas.microsoft.com/office/drawing/2014/main" id="{6F82AB15-20A4-83CD-0145-B4563F5FE71C}"/>
              </a:ext>
            </a:extLst>
          </p:cNvPr>
          <p:cNvSpPr txBox="1"/>
          <p:nvPr/>
        </p:nvSpPr>
        <p:spPr>
          <a:xfrm>
            <a:off x="8829006" y="4847645"/>
            <a:ext cx="2524794" cy="307777"/>
          </a:xfrm>
          <a:prstGeom prst="rect">
            <a:avLst/>
          </a:prstGeom>
          <a:noFill/>
        </p:spPr>
        <p:txBody>
          <a:bodyPr wrap="none" rtlCol="0">
            <a:spAutoFit/>
          </a:bodyPr>
          <a:lstStyle/>
          <a:p>
            <a:r>
              <a:rPr lang="en-US" sz="1400" i="1" dirty="0"/>
              <a:t>fluctuations in acoustic pressure</a:t>
            </a:r>
          </a:p>
        </p:txBody>
      </p:sp>
      <p:sp>
        <p:nvSpPr>
          <p:cNvPr id="20" name="TextBox 19">
            <a:extLst>
              <a:ext uri="{FF2B5EF4-FFF2-40B4-BE49-F238E27FC236}">
                <a16:creationId xmlns:a16="http://schemas.microsoft.com/office/drawing/2014/main" id="{CC4AFD7C-B9D8-318F-C5E0-B6FA9D749865}"/>
              </a:ext>
            </a:extLst>
          </p:cNvPr>
          <p:cNvSpPr txBox="1"/>
          <p:nvPr/>
        </p:nvSpPr>
        <p:spPr>
          <a:xfrm>
            <a:off x="8829006" y="5226716"/>
            <a:ext cx="2499082" cy="307777"/>
          </a:xfrm>
          <a:prstGeom prst="rect">
            <a:avLst/>
          </a:prstGeom>
          <a:noFill/>
        </p:spPr>
        <p:txBody>
          <a:bodyPr wrap="none" rtlCol="0">
            <a:spAutoFit/>
          </a:bodyPr>
          <a:lstStyle/>
          <a:p>
            <a:r>
              <a:rPr lang="en-US" sz="1400" i="1" dirty="0"/>
              <a:t>fluctuations in heat release rate</a:t>
            </a:r>
          </a:p>
        </p:txBody>
      </p:sp>
      <p:sp>
        <p:nvSpPr>
          <p:cNvPr id="21" name="TextBox 20">
            <a:extLst>
              <a:ext uri="{FF2B5EF4-FFF2-40B4-BE49-F238E27FC236}">
                <a16:creationId xmlns:a16="http://schemas.microsoft.com/office/drawing/2014/main" id="{E5326A59-145E-06EB-A2EB-4420EE2FA4FB}"/>
              </a:ext>
            </a:extLst>
          </p:cNvPr>
          <p:cNvSpPr txBox="1"/>
          <p:nvPr/>
        </p:nvSpPr>
        <p:spPr>
          <a:xfrm>
            <a:off x="8829006" y="5615203"/>
            <a:ext cx="2052293" cy="307777"/>
          </a:xfrm>
          <a:prstGeom prst="rect">
            <a:avLst/>
          </a:prstGeom>
          <a:noFill/>
        </p:spPr>
        <p:txBody>
          <a:bodyPr wrap="none" rtlCol="0">
            <a:spAutoFit/>
          </a:bodyPr>
          <a:lstStyle/>
          <a:p>
            <a:r>
              <a:rPr lang="en-US" sz="1400" i="1" dirty="0"/>
              <a:t> timed average correction</a:t>
            </a:r>
          </a:p>
        </p:txBody>
      </p:sp>
      <p:pic>
        <p:nvPicPr>
          <p:cNvPr id="23" name="Picture 22">
            <a:extLst>
              <a:ext uri="{FF2B5EF4-FFF2-40B4-BE49-F238E27FC236}">
                <a16:creationId xmlns:a16="http://schemas.microsoft.com/office/drawing/2014/main" id="{7C6A456C-4F69-0A63-7908-71D57DD5B503}"/>
              </a:ext>
            </a:extLst>
          </p:cNvPr>
          <p:cNvPicPr>
            <a:picLocks noChangeAspect="1"/>
          </p:cNvPicPr>
          <p:nvPr/>
        </p:nvPicPr>
        <p:blipFill>
          <a:blip r:embed="rId9"/>
          <a:srcRect t="32359"/>
          <a:stretch>
            <a:fillRect/>
          </a:stretch>
        </p:blipFill>
        <p:spPr>
          <a:xfrm>
            <a:off x="7019904" y="1033841"/>
            <a:ext cx="4729159" cy="2996385"/>
          </a:xfrm>
          <a:prstGeom prst="rect">
            <a:avLst/>
          </a:prstGeom>
        </p:spPr>
      </p:pic>
      <p:cxnSp>
        <p:nvCxnSpPr>
          <p:cNvPr id="25" name="Straight Connector 24">
            <a:extLst>
              <a:ext uri="{FF2B5EF4-FFF2-40B4-BE49-F238E27FC236}">
                <a16:creationId xmlns:a16="http://schemas.microsoft.com/office/drawing/2014/main" id="{3F54CEBD-1615-A894-9FC1-132CBDF5471C}"/>
              </a:ext>
            </a:extLst>
          </p:cNvPr>
          <p:cNvCxnSpPr/>
          <p:nvPr/>
        </p:nvCxnSpPr>
        <p:spPr>
          <a:xfrm>
            <a:off x="6691533" y="4113231"/>
            <a:ext cx="5099974" cy="0"/>
          </a:xfrm>
          <a:prstGeom prst="line">
            <a:avLst/>
          </a:prstGeom>
        </p:spPr>
        <p:style>
          <a:lnRef idx="1">
            <a:schemeClr val="accent1"/>
          </a:lnRef>
          <a:fillRef idx="0">
            <a:schemeClr val="accent1"/>
          </a:fillRef>
          <a:effectRef idx="0">
            <a:schemeClr val="accent1"/>
          </a:effectRef>
          <a:fontRef idx="minor">
            <a:schemeClr val="tx1"/>
          </a:fontRef>
        </p:style>
      </p:cxnSp>
      <p:sp>
        <p:nvSpPr>
          <p:cNvPr id="26" name="TextBox 25">
            <a:extLst>
              <a:ext uri="{FF2B5EF4-FFF2-40B4-BE49-F238E27FC236}">
                <a16:creationId xmlns:a16="http://schemas.microsoft.com/office/drawing/2014/main" id="{5B8C13DC-95FD-6D86-F466-9F7098C92B48}"/>
              </a:ext>
            </a:extLst>
          </p:cNvPr>
          <p:cNvSpPr txBox="1"/>
          <p:nvPr/>
        </p:nvSpPr>
        <p:spPr>
          <a:xfrm>
            <a:off x="838200" y="1654370"/>
            <a:ext cx="5662808" cy="1200329"/>
          </a:xfrm>
          <a:prstGeom prst="rect">
            <a:avLst/>
          </a:prstGeom>
          <a:noFill/>
        </p:spPr>
        <p:txBody>
          <a:bodyPr wrap="square" rtlCol="0">
            <a:spAutoFit/>
          </a:bodyPr>
          <a:lstStyle/>
          <a:p>
            <a:r>
              <a:rPr lang="en-US" b="1" dirty="0"/>
              <a:t>Combustion instabilities </a:t>
            </a:r>
            <a:r>
              <a:rPr lang="en-US" dirty="0"/>
              <a:t>are physical phenomena that occurs in a reacting flow in which some perturbations, even very small ones, grow and then become large enough to alter the features of the flow in a particular way.</a:t>
            </a:r>
          </a:p>
        </p:txBody>
      </p:sp>
    </p:spTree>
    <p:extLst>
      <p:ext uri="{BB962C8B-B14F-4D97-AF65-F5344CB8AC3E}">
        <p14:creationId xmlns:p14="http://schemas.microsoft.com/office/powerpoint/2010/main" val="122876755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4E90AD-7A7C-DD09-51D9-CD2711DB07C5}"/>
            </a:ext>
          </a:extLst>
        </p:cNvPr>
        <p:cNvGrpSpPr/>
        <p:nvPr/>
      </p:nvGrpSpPr>
      <p:grpSpPr>
        <a:xfrm>
          <a:off x="0" y="0"/>
          <a:ext cx="0" cy="0"/>
          <a:chOff x="0" y="0"/>
          <a:chExt cx="0" cy="0"/>
        </a:xfrm>
      </p:grpSpPr>
      <p:pic>
        <p:nvPicPr>
          <p:cNvPr id="11" name="Content Placeholder 10">
            <a:extLst>
              <a:ext uri="{FF2B5EF4-FFF2-40B4-BE49-F238E27FC236}">
                <a16:creationId xmlns:a16="http://schemas.microsoft.com/office/drawing/2014/main" id="{2D0C6C28-E11E-68C4-24C8-C782A04CB64F}"/>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86744" y="2745924"/>
            <a:ext cx="12105256" cy="1520231"/>
          </a:xfrm>
        </p:spPr>
      </p:pic>
      <p:sp>
        <p:nvSpPr>
          <p:cNvPr id="2" name="Title 1">
            <a:extLst>
              <a:ext uri="{FF2B5EF4-FFF2-40B4-BE49-F238E27FC236}">
                <a16:creationId xmlns:a16="http://schemas.microsoft.com/office/drawing/2014/main" id="{2C02CA21-FD60-BCFE-9F1D-1206759D8193}"/>
              </a:ext>
            </a:extLst>
          </p:cNvPr>
          <p:cNvSpPr>
            <a:spLocks noGrp="1"/>
          </p:cNvSpPr>
          <p:nvPr>
            <p:ph type="title"/>
          </p:nvPr>
        </p:nvSpPr>
        <p:spPr/>
        <p:txBody>
          <a:bodyPr/>
          <a:lstStyle/>
          <a:p>
            <a:r>
              <a:rPr lang="en-US" dirty="0"/>
              <a:t>Phase I</a:t>
            </a:r>
          </a:p>
        </p:txBody>
      </p:sp>
      <p:sp>
        <p:nvSpPr>
          <p:cNvPr id="6" name="TextBox 5">
            <a:extLst>
              <a:ext uri="{FF2B5EF4-FFF2-40B4-BE49-F238E27FC236}">
                <a16:creationId xmlns:a16="http://schemas.microsoft.com/office/drawing/2014/main" id="{3075F2CE-7613-3B25-DA3A-F11FBD1564B3}"/>
              </a:ext>
            </a:extLst>
          </p:cNvPr>
          <p:cNvSpPr txBox="1"/>
          <p:nvPr/>
        </p:nvSpPr>
        <p:spPr>
          <a:xfrm>
            <a:off x="1723433" y="4450821"/>
            <a:ext cx="923651" cy="400110"/>
          </a:xfrm>
          <a:prstGeom prst="rect">
            <a:avLst/>
          </a:prstGeom>
          <a:noFill/>
        </p:spPr>
        <p:txBody>
          <a:bodyPr wrap="none" rtlCol="0">
            <a:spAutoFit/>
          </a:bodyPr>
          <a:lstStyle/>
          <a:p>
            <a:r>
              <a:rPr lang="en-US" sz="2000" i="1" dirty="0"/>
              <a:t>Phase I</a:t>
            </a:r>
          </a:p>
        </p:txBody>
      </p:sp>
      <p:sp>
        <p:nvSpPr>
          <p:cNvPr id="12" name="TextBox 11">
            <a:extLst>
              <a:ext uri="{FF2B5EF4-FFF2-40B4-BE49-F238E27FC236}">
                <a16:creationId xmlns:a16="http://schemas.microsoft.com/office/drawing/2014/main" id="{0CC2EEAD-719A-1060-D306-ED68480C8E37}"/>
              </a:ext>
            </a:extLst>
          </p:cNvPr>
          <p:cNvSpPr txBox="1"/>
          <p:nvPr/>
        </p:nvSpPr>
        <p:spPr>
          <a:xfrm>
            <a:off x="8890515" y="2376592"/>
            <a:ext cx="987771" cy="400110"/>
          </a:xfrm>
          <a:prstGeom prst="rect">
            <a:avLst/>
          </a:prstGeom>
          <a:noFill/>
        </p:spPr>
        <p:txBody>
          <a:bodyPr wrap="none" rtlCol="0">
            <a:spAutoFit/>
          </a:bodyPr>
          <a:lstStyle/>
          <a:p>
            <a:r>
              <a:rPr lang="en-US" sz="2000" i="1" dirty="0"/>
              <a:t>Phase II</a:t>
            </a:r>
          </a:p>
        </p:txBody>
      </p:sp>
    </p:spTree>
    <p:extLst>
      <p:ext uri="{BB962C8B-B14F-4D97-AF65-F5344CB8AC3E}">
        <p14:creationId xmlns:p14="http://schemas.microsoft.com/office/powerpoint/2010/main" val="47321466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8A5DC7-C82E-9FBC-17B6-D73B008227A9}"/>
              </a:ext>
            </a:extLst>
          </p:cNvPr>
          <p:cNvSpPr>
            <a:spLocks noGrp="1"/>
          </p:cNvSpPr>
          <p:nvPr>
            <p:ph type="title"/>
          </p:nvPr>
        </p:nvSpPr>
        <p:spPr>
          <a:xfrm>
            <a:off x="0" y="4411304"/>
            <a:ext cx="6770914" cy="1325563"/>
          </a:xfrm>
        </p:spPr>
        <p:txBody>
          <a:bodyPr>
            <a:normAutofit/>
          </a:bodyPr>
          <a:lstStyle/>
          <a:p>
            <a:pPr algn="ctr"/>
            <a:r>
              <a:rPr lang="en-US" sz="8800" dirty="0">
                <a:latin typeface="Arial Black" panose="020B0A04020102020204" pitchFamily="34" charset="0"/>
              </a:rPr>
              <a:t>DESIGN</a:t>
            </a:r>
          </a:p>
        </p:txBody>
      </p:sp>
      <p:pic>
        <p:nvPicPr>
          <p:cNvPr id="4" name="Picture 3">
            <a:extLst>
              <a:ext uri="{FF2B5EF4-FFF2-40B4-BE49-F238E27FC236}">
                <a16:creationId xmlns:a16="http://schemas.microsoft.com/office/drawing/2014/main" id="{0EA90C67-D726-99AE-D19E-5E555EE1C9C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248525" y="47625"/>
            <a:ext cx="4943475" cy="6810375"/>
          </a:xfrm>
          <a:prstGeom prst="rect">
            <a:avLst/>
          </a:prstGeom>
        </p:spPr>
      </p:pic>
      <p:cxnSp>
        <p:nvCxnSpPr>
          <p:cNvPr id="9" name="Straight Connector 8">
            <a:extLst>
              <a:ext uri="{FF2B5EF4-FFF2-40B4-BE49-F238E27FC236}">
                <a16:creationId xmlns:a16="http://schemas.microsoft.com/office/drawing/2014/main" id="{E81338B7-758E-CD71-D134-9D3CCE29CDEA}"/>
              </a:ext>
            </a:extLst>
          </p:cNvPr>
          <p:cNvCxnSpPr>
            <a:cxnSpLocks/>
          </p:cNvCxnSpPr>
          <p:nvPr/>
        </p:nvCxnSpPr>
        <p:spPr>
          <a:xfrm rot="10800000">
            <a:off x="843644" y="1077685"/>
            <a:ext cx="0" cy="706230"/>
          </a:xfrm>
          <a:prstGeom prst="line">
            <a:avLst/>
          </a:prstGeom>
          <a:ln w="5715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03294163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15575EB-073C-D49F-A15E-572F6950A06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9067143-09A4-A139-ACFE-7662CC767301}"/>
              </a:ext>
            </a:extLst>
          </p:cNvPr>
          <p:cNvSpPr>
            <a:spLocks noGrp="1"/>
          </p:cNvSpPr>
          <p:nvPr>
            <p:ph type="title"/>
          </p:nvPr>
        </p:nvSpPr>
        <p:spPr/>
        <p:txBody>
          <a:bodyPr/>
          <a:lstStyle/>
          <a:p>
            <a:r>
              <a:rPr lang="en-US" dirty="0"/>
              <a:t>Design of Chamber</a:t>
            </a:r>
          </a:p>
        </p:txBody>
      </p:sp>
      <p:grpSp>
        <p:nvGrpSpPr>
          <p:cNvPr id="38" name="Group 37">
            <a:extLst>
              <a:ext uri="{FF2B5EF4-FFF2-40B4-BE49-F238E27FC236}">
                <a16:creationId xmlns:a16="http://schemas.microsoft.com/office/drawing/2014/main" id="{62EFDB3A-D4CF-9341-8ACE-91041308C73F}"/>
              </a:ext>
            </a:extLst>
          </p:cNvPr>
          <p:cNvGrpSpPr/>
          <p:nvPr/>
        </p:nvGrpSpPr>
        <p:grpSpPr>
          <a:xfrm>
            <a:off x="8505568" y="3090848"/>
            <a:ext cx="3418662" cy="3402027"/>
            <a:chOff x="8602133" y="2682066"/>
            <a:chExt cx="3418662" cy="3402027"/>
          </a:xfrm>
        </p:grpSpPr>
        <p:grpSp>
          <p:nvGrpSpPr>
            <p:cNvPr id="34" name="Group 33">
              <a:extLst>
                <a:ext uri="{FF2B5EF4-FFF2-40B4-BE49-F238E27FC236}">
                  <a16:creationId xmlns:a16="http://schemas.microsoft.com/office/drawing/2014/main" id="{8F7E8990-52A0-E01C-E681-CD8F744C5FD0}"/>
                </a:ext>
              </a:extLst>
            </p:cNvPr>
            <p:cNvGrpSpPr/>
            <p:nvPr/>
          </p:nvGrpSpPr>
          <p:grpSpPr>
            <a:xfrm>
              <a:off x="8724280" y="3467277"/>
              <a:ext cx="2629520" cy="2547409"/>
              <a:chOff x="7377842" y="4018592"/>
              <a:chExt cx="2800773" cy="2697018"/>
            </a:xfrm>
          </p:grpSpPr>
          <p:pic>
            <p:nvPicPr>
              <p:cNvPr id="16" name="Picture 15">
                <a:extLst>
                  <a:ext uri="{FF2B5EF4-FFF2-40B4-BE49-F238E27FC236}">
                    <a16:creationId xmlns:a16="http://schemas.microsoft.com/office/drawing/2014/main" id="{6FF8FE0B-F737-B517-EC9D-BF3B46214345}"/>
                  </a:ext>
                </a:extLst>
              </p:cNvPr>
              <p:cNvPicPr>
                <a:picLocks noChangeAspect="1"/>
              </p:cNvPicPr>
              <p:nvPr/>
            </p:nvPicPr>
            <p:blipFill>
              <a:blip r:embed="rId2">
                <a:extLst>
                  <a:ext uri="{28A0092B-C50C-407E-A947-70E740481C1C}">
                    <a14:useLocalDpi xmlns:a14="http://schemas.microsoft.com/office/drawing/2010/main" val="0"/>
                  </a:ext>
                </a:extLst>
              </a:blip>
              <a:srcRect l="4551" t="28777" r="59844" b="52051"/>
              <a:stretch>
                <a:fillRect/>
              </a:stretch>
            </p:blipFill>
            <p:spPr>
              <a:xfrm rot="16200000" flipV="1">
                <a:off x="7802190" y="4339184"/>
                <a:ext cx="2697018" cy="2055833"/>
              </a:xfrm>
              <a:prstGeom prst="rect">
                <a:avLst/>
              </a:prstGeom>
            </p:spPr>
          </p:pic>
          <p:sp>
            <p:nvSpPr>
              <p:cNvPr id="20" name="Oval 19">
                <a:extLst>
                  <a:ext uri="{FF2B5EF4-FFF2-40B4-BE49-F238E27FC236}">
                    <a16:creationId xmlns:a16="http://schemas.microsoft.com/office/drawing/2014/main" id="{EE5680A3-9629-520B-6EF5-426567A1E98B}"/>
                  </a:ext>
                </a:extLst>
              </p:cNvPr>
              <p:cNvSpPr/>
              <p:nvPr/>
            </p:nvSpPr>
            <p:spPr>
              <a:xfrm>
                <a:off x="7377842" y="4095750"/>
                <a:ext cx="2596845" cy="2521263"/>
              </a:xfrm>
              <a:prstGeom prst="ellipse">
                <a:avLst/>
              </a:prstGeom>
              <a:no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27" name="Group 26">
                <a:extLst>
                  <a:ext uri="{FF2B5EF4-FFF2-40B4-BE49-F238E27FC236}">
                    <a16:creationId xmlns:a16="http://schemas.microsoft.com/office/drawing/2014/main" id="{66CD7B5E-552C-717F-80AE-F0FAAF26B3C5}"/>
                  </a:ext>
                </a:extLst>
              </p:cNvPr>
              <p:cNvGrpSpPr/>
              <p:nvPr/>
            </p:nvGrpSpPr>
            <p:grpSpPr>
              <a:xfrm>
                <a:off x="7929923" y="4710313"/>
                <a:ext cx="1644383" cy="307361"/>
                <a:chOff x="7929923" y="4710313"/>
                <a:chExt cx="1644383" cy="307361"/>
              </a:xfrm>
            </p:grpSpPr>
            <p:cxnSp>
              <p:nvCxnSpPr>
                <p:cNvPr id="22" name="Straight Connector 21">
                  <a:extLst>
                    <a:ext uri="{FF2B5EF4-FFF2-40B4-BE49-F238E27FC236}">
                      <a16:creationId xmlns:a16="http://schemas.microsoft.com/office/drawing/2014/main" id="{23F67029-7F77-59A4-5815-5FE3C2A2F081}"/>
                    </a:ext>
                  </a:extLst>
                </p:cNvPr>
                <p:cNvCxnSpPr>
                  <a:cxnSpLocks/>
                </p:cNvCxnSpPr>
                <p:nvPr/>
              </p:nvCxnSpPr>
              <p:spPr>
                <a:xfrm>
                  <a:off x="7929923" y="5017674"/>
                  <a:ext cx="1529122" cy="0"/>
                </a:xfrm>
                <a:prstGeom prst="line">
                  <a:avLst/>
                </a:prstGeom>
                <a:ln w="19050">
                  <a:solidFill>
                    <a:schemeClr val="accent6">
                      <a:lumMod val="75000"/>
                    </a:schemeClr>
                  </a:solidFill>
                </a:ln>
              </p:spPr>
              <p:style>
                <a:lnRef idx="1">
                  <a:schemeClr val="accent1"/>
                </a:lnRef>
                <a:fillRef idx="0">
                  <a:schemeClr val="accent1"/>
                </a:fillRef>
                <a:effectRef idx="0">
                  <a:schemeClr val="accent1"/>
                </a:effectRef>
                <a:fontRef idx="minor">
                  <a:schemeClr val="tx1"/>
                </a:fontRef>
              </p:style>
            </p:cxnSp>
            <p:cxnSp>
              <p:nvCxnSpPr>
                <p:cNvPr id="24" name="Straight Arrow Connector 23">
                  <a:extLst>
                    <a:ext uri="{FF2B5EF4-FFF2-40B4-BE49-F238E27FC236}">
                      <a16:creationId xmlns:a16="http://schemas.microsoft.com/office/drawing/2014/main" id="{A14E6B11-B54E-5A8A-1490-09D2CA7A283D}"/>
                    </a:ext>
                  </a:extLst>
                </p:cNvPr>
                <p:cNvCxnSpPr>
                  <a:cxnSpLocks/>
                </p:cNvCxnSpPr>
                <p:nvPr/>
              </p:nvCxnSpPr>
              <p:spPr>
                <a:xfrm flipV="1">
                  <a:off x="9459045" y="4710313"/>
                  <a:ext cx="115261" cy="307361"/>
                </a:xfrm>
                <a:prstGeom prst="straightConnector1">
                  <a:avLst/>
                </a:prstGeom>
                <a:ln w="19050">
                  <a:solidFill>
                    <a:schemeClr val="accent6">
                      <a:lumMod val="75000"/>
                    </a:schemeClr>
                  </a:solidFill>
                  <a:tailEnd type="triangle"/>
                </a:ln>
              </p:spPr>
              <p:style>
                <a:lnRef idx="1">
                  <a:schemeClr val="accent1"/>
                </a:lnRef>
                <a:fillRef idx="0">
                  <a:schemeClr val="accent1"/>
                </a:fillRef>
                <a:effectRef idx="0">
                  <a:schemeClr val="accent1"/>
                </a:effectRef>
                <a:fontRef idx="minor">
                  <a:schemeClr val="tx1"/>
                </a:fontRef>
              </p:style>
            </p:cxnSp>
          </p:grpSp>
          <p:grpSp>
            <p:nvGrpSpPr>
              <p:cNvPr id="28" name="Group 27">
                <a:extLst>
                  <a:ext uri="{FF2B5EF4-FFF2-40B4-BE49-F238E27FC236}">
                    <a16:creationId xmlns:a16="http://schemas.microsoft.com/office/drawing/2014/main" id="{3867AF1F-2500-E54B-CE55-1307C678E0D4}"/>
                  </a:ext>
                </a:extLst>
              </p:cNvPr>
              <p:cNvGrpSpPr/>
              <p:nvPr/>
            </p:nvGrpSpPr>
            <p:grpSpPr>
              <a:xfrm flipV="1">
                <a:off x="7929923" y="5710238"/>
                <a:ext cx="1644383" cy="307361"/>
                <a:chOff x="7929923" y="4710313"/>
                <a:chExt cx="1644383" cy="307361"/>
              </a:xfrm>
            </p:grpSpPr>
            <p:cxnSp>
              <p:nvCxnSpPr>
                <p:cNvPr id="29" name="Straight Connector 28">
                  <a:extLst>
                    <a:ext uri="{FF2B5EF4-FFF2-40B4-BE49-F238E27FC236}">
                      <a16:creationId xmlns:a16="http://schemas.microsoft.com/office/drawing/2014/main" id="{FF5E12E7-23E9-3BA9-D1E2-F3D5993C1F90}"/>
                    </a:ext>
                  </a:extLst>
                </p:cNvPr>
                <p:cNvCxnSpPr>
                  <a:cxnSpLocks/>
                </p:cNvCxnSpPr>
                <p:nvPr/>
              </p:nvCxnSpPr>
              <p:spPr>
                <a:xfrm>
                  <a:off x="7929923" y="5017674"/>
                  <a:ext cx="1529122" cy="0"/>
                </a:xfrm>
                <a:prstGeom prst="line">
                  <a:avLst/>
                </a:prstGeom>
                <a:ln w="19050">
                  <a:solidFill>
                    <a:schemeClr val="accent6">
                      <a:lumMod val="75000"/>
                    </a:schemeClr>
                  </a:solidFill>
                </a:ln>
              </p:spPr>
              <p:style>
                <a:lnRef idx="1">
                  <a:schemeClr val="accent1"/>
                </a:lnRef>
                <a:fillRef idx="0">
                  <a:schemeClr val="accent1"/>
                </a:fillRef>
                <a:effectRef idx="0">
                  <a:schemeClr val="accent1"/>
                </a:effectRef>
                <a:fontRef idx="minor">
                  <a:schemeClr val="tx1"/>
                </a:fontRef>
              </p:style>
            </p:cxnSp>
            <p:cxnSp>
              <p:nvCxnSpPr>
                <p:cNvPr id="30" name="Straight Arrow Connector 29">
                  <a:extLst>
                    <a:ext uri="{FF2B5EF4-FFF2-40B4-BE49-F238E27FC236}">
                      <a16:creationId xmlns:a16="http://schemas.microsoft.com/office/drawing/2014/main" id="{BC6B3DF1-C991-38EA-BC17-3DBB76276B8B}"/>
                    </a:ext>
                  </a:extLst>
                </p:cNvPr>
                <p:cNvCxnSpPr>
                  <a:cxnSpLocks/>
                </p:cNvCxnSpPr>
                <p:nvPr/>
              </p:nvCxnSpPr>
              <p:spPr>
                <a:xfrm flipV="1">
                  <a:off x="9459045" y="4710313"/>
                  <a:ext cx="115261" cy="307361"/>
                </a:xfrm>
                <a:prstGeom prst="straightConnector1">
                  <a:avLst/>
                </a:prstGeom>
                <a:ln w="19050">
                  <a:solidFill>
                    <a:schemeClr val="accent6">
                      <a:lumMod val="75000"/>
                    </a:schemeClr>
                  </a:solidFill>
                  <a:tailEnd type="triangle"/>
                </a:ln>
              </p:spPr>
              <p:style>
                <a:lnRef idx="1">
                  <a:schemeClr val="accent1"/>
                </a:lnRef>
                <a:fillRef idx="0">
                  <a:schemeClr val="accent1"/>
                </a:fillRef>
                <a:effectRef idx="0">
                  <a:schemeClr val="accent1"/>
                </a:effectRef>
                <a:fontRef idx="minor">
                  <a:schemeClr val="tx1"/>
                </a:fontRef>
              </p:style>
            </p:cxnSp>
          </p:grpSp>
          <p:cxnSp>
            <p:nvCxnSpPr>
              <p:cNvPr id="32" name="Straight Arrow Connector 31">
                <a:extLst>
                  <a:ext uri="{FF2B5EF4-FFF2-40B4-BE49-F238E27FC236}">
                    <a16:creationId xmlns:a16="http://schemas.microsoft.com/office/drawing/2014/main" id="{69F9454E-70F7-B94F-5D5E-8581711AB739}"/>
                  </a:ext>
                </a:extLst>
              </p:cNvPr>
              <p:cNvCxnSpPr/>
              <p:nvPr/>
            </p:nvCxnSpPr>
            <p:spPr>
              <a:xfrm>
                <a:off x="7929923" y="6037739"/>
                <a:ext cx="1586752" cy="0"/>
              </a:xfrm>
              <a:prstGeom prst="straightConnector1">
                <a:avLst/>
              </a:prstGeom>
              <a:ln w="19050">
                <a:solidFill>
                  <a:schemeClr val="accent4"/>
                </a:solidFill>
                <a:tailEnd type="triangle"/>
              </a:ln>
            </p:spPr>
            <p:style>
              <a:lnRef idx="1">
                <a:schemeClr val="accent1"/>
              </a:lnRef>
              <a:fillRef idx="0">
                <a:schemeClr val="accent1"/>
              </a:fillRef>
              <a:effectRef idx="0">
                <a:schemeClr val="accent1"/>
              </a:effectRef>
              <a:fontRef idx="minor">
                <a:schemeClr val="tx1"/>
              </a:fontRef>
            </p:style>
          </p:cxnSp>
          <p:cxnSp>
            <p:nvCxnSpPr>
              <p:cNvPr id="33" name="Straight Arrow Connector 32">
                <a:extLst>
                  <a:ext uri="{FF2B5EF4-FFF2-40B4-BE49-F238E27FC236}">
                    <a16:creationId xmlns:a16="http://schemas.microsoft.com/office/drawing/2014/main" id="{48F5DE7D-AF22-EFB9-2600-4811A3E5BC2C}"/>
                  </a:ext>
                </a:extLst>
              </p:cNvPr>
              <p:cNvCxnSpPr/>
              <p:nvPr/>
            </p:nvCxnSpPr>
            <p:spPr>
              <a:xfrm>
                <a:off x="7901108" y="4693005"/>
                <a:ext cx="1586752" cy="0"/>
              </a:xfrm>
              <a:prstGeom prst="straightConnector1">
                <a:avLst/>
              </a:prstGeom>
              <a:ln w="19050">
                <a:solidFill>
                  <a:schemeClr val="accent4"/>
                </a:solidFill>
                <a:tailEnd type="triangle"/>
              </a:ln>
            </p:spPr>
            <p:style>
              <a:lnRef idx="1">
                <a:schemeClr val="accent1"/>
              </a:lnRef>
              <a:fillRef idx="0">
                <a:schemeClr val="accent1"/>
              </a:fillRef>
              <a:effectRef idx="0">
                <a:schemeClr val="accent1"/>
              </a:effectRef>
              <a:fontRef idx="minor">
                <a:schemeClr val="tx1"/>
              </a:fontRef>
            </p:style>
          </p:cxnSp>
        </p:grpSp>
        <p:sp>
          <p:nvSpPr>
            <p:cNvPr id="35" name="TextBox 34">
              <a:extLst>
                <a:ext uri="{FF2B5EF4-FFF2-40B4-BE49-F238E27FC236}">
                  <a16:creationId xmlns:a16="http://schemas.microsoft.com/office/drawing/2014/main" id="{C660431B-0AB3-ECB2-CA20-02F8324E0197}"/>
                </a:ext>
              </a:extLst>
            </p:cNvPr>
            <p:cNvSpPr txBox="1"/>
            <p:nvPr/>
          </p:nvSpPr>
          <p:spPr>
            <a:xfrm>
              <a:off x="8678974" y="2682066"/>
              <a:ext cx="3164551" cy="707886"/>
            </a:xfrm>
            <a:prstGeom prst="rect">
              <a:avLst/>
            </a:prstGeom>
            <a:noFill/>
          </p:spPr>
          <p:txBody>
            <a:bodyPr wrap="square" rtlCol="0">
              <a:spAutoFit/>
            </a:bodyPr>
            <a:lstStyle/>
            <a:p>
              <a:r>
                <a:rPr lang="en-US" sz="2000" dirty="0">
                  <a:effectLst>
                    <a:outerShdw blurRad="38100" dist="38100" dir="2700000" algn="tl">
                      <a:srgbClr val="000000">
                        <a:alpha val="43137"/>
                      </a:srgbClr>
                    </a:outerShdw>
                  </a:effectLst>
                </a:rPr>
                <a:t>WORKING OF PINTLE MANIFOLD</a:t>
              </a:r>
            </a:p>
          </p:txBody>
        </p:sp>
        <p:sp>
          <p:nvSpPr>
            <p:cNvPr id="36" name="TextBox 35">
              <a:extLst>
                <a:ext uri="{FF2B5EF4-FFF2-40B4-BE49-F238E27FC236}">
                  <a16:creationId xmlns:a16="http://schemas.microsoft.com/office/drawing/2014/main" id="{5852C7F7-1E91-E4F2-B833-C549839D687D}"/>
                </a:ext>
              </a:extLst>
            </p:cNvPr>
            <p:cNvSpPr txBox="1"/>
            <p:nvPr/>
          </p:nvSpPr>
          <p:spPr>
            <a:xfrm>
              <a:off x="11333597" y="3546570"/>
              <a:ext cx="687198" cy="646331"/>
            </a:xfrm>
            <a:prstGeom prst="rect">
              <a:avLst/>
            </a:prstGeom>
            <a:noFill/>
          </p:spPr>
          <p:txBody>
            <a:bodyPr wrap="square" rtlCol="0">
              <a:spAutoFit/>
            </a:bodyPr>
            <a:lstStyle/>
            <a:p>
              <a:r>
                <a:rPr lang="en-US" b="1" dirty="0">
                  <a:solidFill>
                    <a:srgbClr val="548235"/>
                  </a:solidFill>
                </a:rPr>
                <a:t>LOX</a:t>
              </a:r>
            </a:p>
            <a:p>
              <a:r>
                <a:rPr lang="en-US" b="1" dirty="0">
                  <a:solidFill>
                    <a:srgbClr val="FFC410"/>
                  </a:solidFill>
                </a:rPr>
                <a:t>GH2</a:t>
              </a:r>
            </a:p>
          </p:txBody>
        </p:sp>
        <p:sp>
          <p:nvSpPr>
            <p:cNvPr id="37" name="Rectangle 36">
              <a:extLst>
                <a:ext uri="{FF2B5EF4-FFF2-40B4-BE49-F238E27FC236}">
                  <a16:creationId xmlns:a16="http://schemas.microsoft.com/office/drawing/2014/main" id="{335E7AF3-67B6-F48D-9E54-72F0CFAB48C6}"/>
                </a:ext>
              </a:extLst>
            </p:cNvPr>
            <p:cNvSpPr/>
            <p:nvPr/>
          </p:nvSpPr>
          <p:spPr>
            <a:xfrm>
              <a:off x="8602133" y="2682067"/>
              <a:ext cx="3315889" cy="3402026"/>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41" name="Group 40">
            <a:extLst>
              <a:ext uri="{FF2B5EF4-FFF2-40B4-BE49-F238E27FC236}">
                <a16:creationId xmlns:a16="http://schemas.microsoft.com/office/drawing/2014/main" id="{DB8016A1-978D-5D7D-960C-48CD4557BBA6}"/>
              </a:ext>
            </a:extLst>
          </p:cNvPr>
          <p:cNvGrpSpPr/>
          <p:nvPr/>
        </p:nvGrpSpPr>
        <p:grpSpPr>
          <a:xfrm>
            <a:off x="470501" y="1572919"/>
            <a:ext cx="7881779" cy="4528991"/>
            <a:chOff x="470501" y="1572919"/>
            <a:chExt cx="7881779" cy="4528991"/>
          </a:xfrm>
        </p:grpSpPr>
        <p:sp>
          <p:nvSpPr>
            <p:cNvPr id="7" name="Rectangle 6">
              <a:extLst>
                <a:ext uri="{FF2B5EF4-FFF2-40B4-BE49-F238E27FC236}">
                  <a16:creationId xmlns:a16="http://schemas.microsoft.com/office/drawing/2014/main" id="{3965A844-9252-51CC-4760-F62F04DA6A2D}"/>
                </a:ext>
              </a:extLst>
            </p:cNvPr>
            <p:cNvSpPr/>
            <p:nvPr/>
          </p:nvSpPr>
          <p:spPr>
            <a:xfrm>
              <a:off x="5010203" y="5944866"/>
              <a:ext cx="577516" cy="157044"/>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a:extLst>
                <a:ext uri="{FF2B5EF4-FFF2-40B4-BE49-F238E27FC236}">
                  <a16:creationId xmlns:a16="http://schemas.microsoft.com/office/drawing/2014/main" id="{6155BE19-906C-809F-BCC1-3BB17E10DCB3}"/>
                </a:ext>
              </a:extLst>
            </p:cNvPr>
            <p:cNvSpPr/>
            <p:nvPr/>
          </p:nvSpPr>
          <p:spPr>
            <a:xfrm>
              <a:off x="5010203" y="5621230"/>
              <a:ext cx="428590" cy="89008"/>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19" name="Group 18">
              <a:extLst>
                <a:ext uri="{FF2B5EF4-FFF2-40B4-BE49-F238E27FC236}">
                  <a16:creationId xmlns:a16="http://schemas.microsoft.com/office/drawing/2014/main" id="{E8C09A15-ED95-8CFB-2BC1-6013B62F79B1}"/>
                </a:ext>
              </a:extLst>
            </p:cNvPr>
            <p:cNvGrpSpPr/>
            <p:nvPr/>
          </p:nvGrpSpPr>
          <p:grpSpPr>
            <a:xfrm>
              <a:off x="470501" y="1572919"/>
              <a:ext cx="7881779" cy="4511172"/>
              <a:chOff x="529876" y="1834170"/>
              <a:chExt cx="8708252" cy="4575498"/>
            </a:xfrm>
          </p:grpSpPr>
          <p:pic>
            <p:nvPicPr>
              <p:cNvPr id="5" name="Picture 4">
                <a:extLst>
                  <a:ext uri="{FF2B5EF4-FFF2-40B4-BE49-F238E27FC236}">
                    <a16:creationId xmlns:a16="http://schemas.microsoft.com/office/drawing/2014/main" id="{24A39F89-5806-0CC3-98AC-E555574F6D7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rot="5400000" flipH="1" flipV="1">
                <a:off x="1480676" y="883370"/>
                <a:ext cx="4575498" cy="6477098"/>
              </a:xfrm>
              <a:prstGeom prst="rect">
                <a:avLst/>
              </a:prstGeom>
            </p:spPr>
          </p:pic>
          <p:grpSp>
            <p:nvGrpSpPr>
              <p:cNvPr id="17" name="Group 16">
                <a:extLst>
                  <a:ext uri="{FF2B5EF4-FFF2-40B4-BE49-F238E27FC236}">
                    <a16:creationId xmlns:a16="http://schemas.microsoft.com/office/drawing/2014/main" id="{8CC637AB-2AD0-B485-4F8E-A42626595F51}"/>
                  </a:ext>
                </a:extLst>
              </p:cNvPr>
              <p:cNvGrpSpPr/>
              <p:nvPr/>
            </p:nvGrpSpPr>
            <p:grpSpPr>
              <a:xfrm>
                <a:off x="960120" y="2091690"/>
                <a:ext cx="8278008" cy="2048402"/>
                <a:chOff x="960120" y="2091690"/>
                <a:chExt cx="8278008" cy="2048402"/>
              </a:xfrm>
            </p:grpSpPr>
            <p:sp>
              <p:nvSpPr>
                <p:cNvPr id="9" name="Rectangle 8">
                  <a:extLst>
                    <a:ext uri="{FF2B5EF4-FFF2-40B4-BE49-F238E27FC236}">
                      <a16:creationId xmlns:a16="http://schemas.microsoft.com/office/drawing/2014/main" id="{170B81D4-B9C8-11C3-E960-AFBB9764EAA2}"/>
                    </a:ext>
                  </a:extLst>
                </p:cNvPr>
                <p:cNvSpPr/>
                <p:nvPr/>
              </p:nvSpPr>
              <p:spPr>
                <a:xfrm>
                  <a:off x="960120" y="2091690"/>
                  <a:ext cx="8208713" cy="2048402"/>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ight Brace 11">
                  <a:extLst>
                    <a:ext uri="{FF2B5EF4-FFF2-40B4-BE49-F238E27FC236}">
                      <a16:creationId xmlns:a16="http://schemas.microsoft.com/office/drawing/2014/main" id="{56451628-AF89-6A02-FF15-D91F5E6D4E10}"/>
                    </a:ext>
                  </a:extLst>
                </p:cNvPr>
                <p:cNvSpPr/>
                <p:nvPr/>
              </p:nvSpPr>
              <p:spPr>
                <a:xfrm>
                  <a:off x="7066588" y="2370642"/>
                  <a:ext cx="289931" cy="1550019"/>
                </a:xfrm>
                <a:prstGeom prst="righ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3" name="TextBox 12">
                  <a:extLst>
                    <a:ext uri="{FF2B5EF4-FFF2-40B4-BE49-F238E27FC236}">
                      <a16:creationId xmlns:a16="http://schemas.microsoft.com/office/drawing/2014/main" id="{A67A3112-2476-31E5-FA33-96FD35C85059}"/>
                    </a:ext>
                  </a:extLst>
                </p:cNvPr>
                <p:cNvSpPr txBox="1"/>
                <p:nvPr/>
              </p:nvSpPr>
              <p:spPr>
                <a:xfrm>
                  <a:off x="7464079" y="2677403"/>
                  <a:ext cx="1774049" cy="936496"/>
                </a:xfrm>
                <a:prstGeom prst="rect">
                  <a:avLst/>
                </a:prstGeom>
                <a:noFill/>
              </p:spPr>
              <p:txBody>
                <a:bodyPr wrap="square" rtlCol="0">
                  <a:spAutoFit/>
                </a:bodyPr>
                <a:lstStyle/>
                <a:p>
                  <a:r>
                    <a:rPr lang="en-US" dirty="0">
                      <a:effectLst>
                        <a:outerShdw blurRad="38100" dist="38100" dir="2700000" algn="tl">
                          <a:srgbClr val="000000">
                            <a:alpha val="43137"/>
                          </a:srgbClr>
                        </a:outerShdw>
                      </a:effectLst>
                    </a:rPr>
                    <a:t>DESIGN OF COMBUSTION CHAMBER</a:t>
                  </a:r>
                </a:p>
              </p:txBody>
            </p:sp>
          </p:grpSp>
          <p:grpSp>
            <p:nvGrpSpPr>
              <p:cNvPr id="18" name="Group 17">
                <a:extLst>
                  <a:ext uri="{FF2B5EF4-FFF2-40B4-BE49-F238E27FC236}">
                    <a16:creationId xmlns:a16="http://schemas.microsoft.com/office/drawing/2014/main" id="{0F97310E-6567-A03A-FA91-A83F9797D31B}"/>
                  </a:ext>
                </a:extLst>
              </p:cNvPr>
              <p:cNvGrpSpPr/>
              <p:nvPr/>
            </p:nvGrpSpPr>
            <p:grpSpPr>
              <a:xfrm>
                <a:off x="960119" y="4486621"/>
                <a:ext cx="2819735" cy="1731299"/>
                <a:chOff x="960119" y="4486621"/>
                <a:chExt cx="2819735" cy="1731299"/>
              </a:xfrm>
            </p:grpSpPr>
            <p:sp>
              <p:nvSpPr>
                <p:cNvPr id="11" name="Rectangle 10">
                  <a:extLst>
                    <a:ext uri="{FF2B5EF4-FFF2-40B4-BE49-F238E27FC236}">
                      <a16:creationId xmlns:a16="http://schemas.microsoft.com/office/drawing/2014/main" id="{C59F6779-34B7-08DB-D62F-D16CF5D940E7}"/>
                    </a:ext>
                  </a:extLst>
                </p:cNvPr>
                <p:cNvSpPr/>
                <p:nvPr/>
              </p:nvSpPr>
              <p:spPr>
                <a:xfrm>
                  <a:off x="960119" y="4486621"/>
                  <a:ext cx="2819735" cy="1731299"/>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ight Brace 13">
                  <a:extLst>
                    <a:ext uri="{FF2B5EF4-FFF2-40B4-BE49-F238E27FC236}">
                      <a16:creationId xmlns:a16="http://schemas.microsoft.com/office/drawing/2014/main" id="{548D3953-46EF-5077-CFEB-6854F4049AB1}"/>
                    </a:ext>
                  </a:extLst>
                </p:cNvPr>
                <p:cNvSpPr/>
                <p:nvPr/>
              </p:nvSpPr>
              <p:spPr>
                <a:xfrm flipH="1">
                  <a:off x="2210819" y="4600050"/>
                  <a:ext cx="289931" cy="1550019"/>
                </a:xfrm>
                <a:prstGeom prst="righ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5" name="TextBox 14">
                  <a:extLst>
                    <a:ext uri="{FF2B5EF4-FFF2-40B4-BE49-F238E27FC236}">
                      <a16:creationId xmlns:a16="http://schemas.microsoft.com/office/drawing/2014/main" id="{830263F4-4EC7-D469-7170-D30B32540156}"/>
                    </a:ext>
                  </a:extLst>
                </p:cNvPr>
                <p:cNvSpPr txBox="1"/>
                <p:nvPr/>
              </p:nvSpPr>
              <p:spPr>
                <a:xfrm>
                  <a:off x="988350" y="4906122"/>
                  <a:ext cx="1550825" cy="923330"/>
                </a:xfrm>
                <a:prstGeom prst="rect">
                  <a:avLst/>
                </a:prstGeom>
                <a:noFill/>
              </p:spPr>
              <p:txBody>
                <a:bodyPr wrap="square" rtlCol="0">
                  <a:spAutoFit/>
                </a:bodyPr>
                <a:lstStyle/>
                <a:p>
                  <a:r>
                    <a:rPr lang="en-US" dirty="0">
                      <a:effectLst>
                        <a:outerShdw blurRad="38100" dist="38100" dir="2700000" algn="tl">
                          <a:srgbClr val="000000">
                            <a:alpha val="43137"/>
                          </a:srgbClr>
                        </a:outerShdw>
                      </a:effectLst>
                    </a:rPr>
                    <a:t>DESIGN OF INJECTOR PINTLE</a:t>
                  </a:r>
                </a:p>
              </p:txBody>
            </p:sp>
          </p:grpSp>
        </p:grpSp>
        <p:sp>
          <p:nvSpPr>
            <p:cNvPr id="39" name="Rectangle 38">
              <a:extLst>
                <a:ext uri="{FF2B5EF4-FFF2-40B4-BE49-F238E27FC236}">
                  <a16:creationId xmlns:a16="http://schemas.microsoft.com/office/drawing/2014/main" id="{62A3CFD7-FAAC-C77D-04D9-163F739281AB}"/>
                </a:ext>
              </a:extLst>
            </p:cNvPr>
            <p:cNvSpPr/>
            <p:nvPr/>
          </p:nvSpPr>
          <p:spPr>
            <a:xfrm>
              <a:off x="4518482" y="5626156"/>
              <a:ext cx="692549" cy="157044"/>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0" name="Rectangle 39">
              <a:extLst>
                <a:ext uri="{FF2B5EF4-FFF2-40B4-BE49-F238E27FC236}">
                  <a16:creationId xmlns:a16="http://schemas.microsoft.com/office/drawing/2014/main" id="{3B28DA4F-95D2-022A-BA7D-6392E6E0ABAB}"/>
                </a:ext>
              </a:extLst>
            </p:cNvPr>
            <p:cNvSpPr/>
            <p:nvPr/>
          </p:nvSpPr>
          <p:spPr>
            <a:xfrm>
              <a:off x="4518481" y="5308600"/>
              <a:ext cx="440869" cy="84138"/>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Tree>
    <p:extLst>
      <p:ext uri="{BB962C8B-B14F-4D97-AF65-F5344CB8AC3E}">
        <p14:creationId xmlns:p14="http://schemas.microsoft.com/office/powerpoint/2010/main" val="126437431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A5A522-7A3E-6F38-9023-418EEE0455D5}"/>
            </a:ext>
          </a:extLst>
        </p:cNvPr>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4" name="Content Placeholder 3">
                <a:extLst>
                  <a:ext uri="{FF2B5EF4-FFF2-40B4-BE49-F238E27FC236}">
                    <a16:creationId xmlns:a16="http://schemas.microsoft.com/office/drawing/2014/main" id="{5360BA73-9A2B-EEA6-43F2-EF0B8FAFD679}"/>
                  </a:ext>
                </a:extLst>
              </p:cNvPr>
              <p:cNvSpPr>
                <a:spLocks noGrp="1"/>
              </p:cNvSpPr>
              <p:nvPr>
                <p:ph sz="half" idx="2"/>
              </p:nvPr>
            </p:nvSpPr>
            <p:spPr>
              <a:xfrm>
                <a:off x="6495394" y="1690688"/>
                <a:ext cx="5181600" cy="4351338"/>
              </a:xfrm>
            </p:spPr>
            <p:txBody>
              <a:bodyPr>
                <a:normAutofit/>
              </a:bodyPr>
              <a:lstStyle/>
              <a:p>
                <a:pPr marL="0" indent="0">
                  <a:buNone/>
                </a:pPr>
                <a:r>
                  <a:rPr lang="en-US" sz="3000" i="1" dirty="0"/>
                  <a:t>Oxidizer</a:t>
                </a:r>
              </a:p>
              <a:p>
                <a:pPr marL="0" indent="0">
                  <a:buNone/>
                </a:pPr>
                <a:endParaRPr lang="en-US" dirty="0"/>
              </a:p>
              <a:p>
                <a:pPr marL="0" indent="0">
                  <a:buNone/>
                </a:pPr>
                <a:endParaRPr lang="en-US" dirty="0"/>
              </a:p>
              <a:p>
                <a:pPr marL="0" indent="0">
                  <a:buNone/>
                </a:pPr>
                <a:endParaRPr lang="en-US" dirty="0"/>
              </a:p>
              <a:p>
                <a:r>
                  <a:rPr lang="en-US" sz="1600" dirty="0"/>
                  <a:t>Molecular mass </a:t>
                </a:r>
                <a14:m>
                  <m:oMath xmlns:m="http://schemas.openxmlformats.org/officeDocument/2006/math">
                    <m:r>
                      <a:rPr lang="en-US" sz="1600" i="1">
                        <a:latin typeface="Cambria Math" panose="02040503050406030204" pitchFamily="18" charset="0"/>
                        <a:ea typeface="Cambria Math" panose="02040503050406030204" pitchFamily="18" charset="0"/>
                      </a:rPr>
                      <m:t>≈ </m:t>
                    </m:r>
                    <m:r>
                      <a:rPr lang="en-US" sz="1600" b="0" i="0" smtClean="0">
                        <a:latin typeface="Cambria Math" panose="02040503050406030204" pitchFamily="18" charset="0"/>
                        <a:ea typeface="Cambria Math" panose="02040503050406030204" pitchFamily="18" charset="0"/>
                      </a:rPr>
                      <m:t>32</m:t>
                    </m:r>
                  </m:oMath>
                </a14:m>
                <a:r>
                  <a:rPr lang="en-US" altLang="en-US" sz="1600" dirty="0">
                    <a:latin typeface="Google Sans Text"/>
                  </a:rPr>
                  <a:t> g/mol</a:t>
                </a:r>
                <a:endParaRPr lang="en-US" sz="1600" dirty="0"/>
              </a:p>
              <a:p>
                <a:r>
                  <a:rPr lang="en-US" sz="1600" dirty="0"/>
                  <a:t>M.R = 6 (@ max Isp=450s)</a:t>
                </a:r>
              </a:p>
              <a:p>
                <a14:m>
                  <m:oMath xmlns:m="http://schemas.openxmlformats.org/officeDocument/2006/math">
                    <m:sSub>
                      <m:sSubPr>
                        <m:ctrlPr>
                          <a:rPr lang="en-US" sz="1600" i="1" smtClean="0">
                            <a:latin typeface="Cambria Math" panose="02040503050406030204" pitchFamily="18" charset="0"/>
                          </a:rPr>
                        </m:ctrlPr>
                      </m:sSubPr>
                      <m:e>
                        <m:r>
                          <m:rPr>
                            <m:sty m:val="p"/>
                          </m:rPr>
                          <a:rPr lang="en-US" sz="1600" b="0" i="1" smtClean="0">
                            <a:latin typeface="Cambria Math" panose="02040503050406030204" pitchFamily="18" charset="0"/>
                          </a:rPr>
                          <m:t>C</m:t>
                        </m:r>
                      </m:e>
                      <m:sub>
                        <m:r>
                          <m:rPr>
                            <m:sty m:val="p"/>
                          </m:rPr>
                          <a:rPr lang="en-US" sz="1600" b="0" i="1" smtClean="0">
                            <a:latin typeface="Cambria Math" panose="02040503050406030204" pitchFamily="18" charset="0"/>
                          </a:rPr>
                          <m:t>P</m:t>
                        </m:r>
                      </m:sub>
                    </m:sSub>
                  </m:oMath>
                </a14:m>
                <a:r>
                  <a:rPr lang="en-US" sz="1600" dirty="0"/>
                  <a:t> </a:t>
                </a:r>
                <a14:m>
                  <m:oMath xmlns:m="http://schemas.openxmlformats.org/officeDocument/2006/math">
                    <m:r>
                      <a:rPr lang="en-US" sz="1600" i="1">
                        <a:latin typeface="Cambria Math" panose="02040503050406030204" pitchFamily="18" charset="0"/>
                        <a:ea typeface="Cambria Math" panose="02040503050406030204" pitchFamily="18" charset="0"/>
                      </a:rPr>
                      <m:t>≈ </m:t>
                    </m:r>
                    <m:r>
                      <a:rPr lang="en-US" sz="1600" b="0" i="1" smtClean="0">
                        <a:latin typeface="Cambria Math" panose="02040503050406030204" pitchFamily="18" charset="0"/>
                        <a:ea typeface="Cambria Math" panose="02040503050406030204" pitchFamily="18" charset="0"/>
                      </a:rPr>
                      <m:t> 1.7 </m:t>
                    </m:r>
                    <m:r>
                      <m:rPr>
                        <m:sty m:val="p"/>
                      </m:rPr>
                      <a:rPr lang="en-US" sz="1600" b="0" i="1" smtClean="0">
                        <a:latin typeface="Cambria Math" panose="02040503050406030204" pitchFamily="18" charset="0"/>
                        <a:ea typeface="Cambria Math" panose="02040503050406030204" pitchFamily="18" charset="0"/>
                      </a:rPr>
                      <m:t>KJ</m:t>
                    </m:r>
                    <m:r>
                      <a:rPr lang="en-US" sz="1600" b="0" i="1" smtClean="0">
                        <a:latin typeface="Cambria Math" panose="02040503050406030204" pitchFamily="18" charset="0"/>
                        <a:ea typeface="Cambria Math" panose="02040503050406030204" pitchFamily="18" charset="0"/>
                      </a:rPr>
                      <m:t>/</m:t>
                    </m:r>
                    <m:r>
                      <m:rPr>
                        <m:sty m:val="p"/>
                      </m:rPr>
                      <a:rPr lang="en-US" sz="1600" b="0" i="1" smtClean="0">
                        <a:latin typeface="Cambria Math" panose="02040503050406030204" pitchFamily="18" charset="0"/>
                        <a:ea typeface="Cambria Math" panose="02040503050406030204" pitchFamily="18" charset="0"/>
                      </a:rPr>
                      <m:t>Kg</m:t>
                    </m:r>
                    <m:r>
                      <a:rPr lang="en-US" sz="1600" b="0" i="1" smtClean="0">
                        <a:latin typeface="Cambria Math" panose="02040503050406030204" pitchFamily="18" charset="0"/>
                        <a:ea typeface="Cambria Math" panose="02040503050406030204" pitchFamily="18" charset="0"/>
                      </a:rPr>
                      <m:t>.</m:t>
                    </m:r>
                    <m:r>
                      <m:rPr>
                        <m:sty m:val="p"/>
                      </m:rPr>
                      <a:rPr lang="en-US" sz="1600" b="0" i="1" smtClean="0">
                        <a:latin typeface="Cambria Math" panose="02040503050406030204" pitchFamily="18" charset="0"/>
                        <a:ea typeface="Cambria Math" panose="02040503050406030204" pitchFamily="18" charset="0"/>
                      </a:rPr>
                      <m:t>K</m:t>
                    </m:r>
                  </m:oMath>
                </a14:m>
                <a:endParaRPr lang="en-US" sz="1600" dirty="0"/>
              </a:p>
              <a:p>
                <a14:m>
                  <m:oMath xmlns:m="http://schemas.openxmlformats.org/officeDocument/2006/math">
                    <m:r>
                      <a:rPr lang="en-US" sz="1600" i="1">
                        <a:latin typeface="Cambria Math" panose="02040503050406030204" pitchFamily="18" charset="0"/>
                        <a:ea typeface="Cambria Math" panose="02040503050406030204" pitchFamily="18" charset="0"/>
                      </a:rPr>
                      <m:t>𝜌</m:t>
                    </m:r>
                  </m:oMath>
                </a14:m>
                <a:r>
                  <a:rPr lang="en-US" sz="1600" dirty="0">
                    <a:ea typeface="Cambria Math" panose="02040503050406030204" pitchFamily="18" charset="0"/>
                  </a:rPr>
                  <a:t> </a:t>
                </a:r>
                <a14:m>
                  <m:oMath xmlns:m="http://schemas.openxmlformats.org/officeDocument/2006/math">
                    <m:r>
                      <a:rPr lang="en-US" sz="1600" i="1">
                        <a:latin typeface="Cambria Math" panose="02040503050406030204" pitchFamily="18" charset="0"/>
                        <a:ea typeface="Cambria Math" panose="02040503050406030204" pitchFamily="18" charset="0"/>
                      </a:rPr>
                      <m:t>≈ </m:t>
                    </m:r>
                    <m:r>
                      <a:rPr lang="en-US" sz="1600" b="0" i="1" smtClean="0">
                        <a:latin typeface="Cambria Math" panose="02040503050406030204" pitchFamily="18" charset="0"/>
                        <a:ea typeface="Cambria Math" panose="02040503050406030204" pitchFamily="18" charset="0"/>
                      </a:rPr>
                      <m:t>1141</m:t>
                    </m:r>
                    <m:r>
                      <a:rPr lang="en-US" sz="1600" i="1">
                        <a:latin typeface="Cambria Math" panose="02040503050406030204" pitchFamily="18" charset="0"/>
                        <a:ea typeface="Cambria Math" panose="02040503050406030204" pitchFamily="18" charset="0"/>
                      </a:rPr>
                      <m:t> </m:t>
                    </m:r>
                    <m:r>
                      <m:rPr>
                        <m:sty m:val="p"/>
                      </m:rPr>
                      <a:rPr lang="en-US" sz="1600" i="1">
                        <a:latin typeface="Cambria Math" panose="02040503050406030204" pitchFamily="18" charset="0"/>
                        <a:ea typeface="Cambria Math" panose="02040503050406030204" pitchFamily="18" charset="0"/>
                      </a:rPr>
                      <m:t>Kg</m:t>
                    </m:r>
                    <m:r>
                      <a:rPr lang="en-US" sz="1600" i="1">
                        <a:latin typeface="Cambria Math" panose="02040503050406030204" pitchFamily="18" charset="0"/>
                        <a:ea typeface="Cambria Math" panose="02040503050406030204" pitchFamily="18" charset="0"/>
                      </a:rPr>
                      <m:t>/</m:t>
                    </m:r>
                    <m:r>
                      <m:rPr>
                        <m:sty m:val="p"/>
                      </m:rPr>
                      <a:rPr lang="en-US" sz="1600" i="1">
                        <a:latin typeface="Cambria Math" panose="02040503050406030204" pitchFamily="18" charset="0"/>
                        <a:ea typeface="Cambria Math" panose="02040503050406030204" pitchFamily="18" charset="0"/>
                      </a:rPr>
                      <m:t>m</m:t>
                    </m:r>
                    <m:r>
                      <a:rPr lang="en-US" sz="1600" i="1">
                        <a:latin typeface="Cambria Math" panose="02040503050406030204" pitchFamily="18" charset="0"/>
                        <a:ea typeface="Cambria Math" panose="02040503050406030204" pitchFamily="18" charset="0"/>
                      </a:rPr>
                      <m:t>3</m:t>
                    </m:r>
                  </m:oMath>
                </a14:m>
                <a:endParaRPr lang="en-US" sz="1600" dirty="0"/>
              </a:p>
              <a:p>
                <a:pPr marL="0" indent="0">
                  <a:buNone/>
                </a:pPr>
                <a:endParaRPr lang="en-US" dirty="0"/>
              </a:p>
            </p:txBody>
          </p:sp>
        </mc:Choice>
        <mc:Fallback xmlns="">
          <p:sp>
            <p:nvSpPr>
              <p:cNvPr id="4" name="Content Placeholder 3">
                <a:extLst>
                  <a:ext uri="{FF2B5EF4-FFF2-40B4-BE49-F238E27FC236}">
                    <a16:creationId xmlns:a16="http://schemas.microsoft.com/office/drawing/2014/main" id="{5360BA73-9A2B-EEA6-43F2-EF0B8FAFD679}"/>
                  </a:ext>
                </a:extLst>
              </p:cNvPr>
              <p:cNvSpPr>
                <a:spLocks noGrp="1" noRot="1" noChangeAspect="1" noMove="1" noResize="1" noEditPoints="1" noAdjustHandles="1" noChangeArrowheads="1" noChangeShapeType="1" noTextEdit="1"/>
              </p:cNvSpPr>
              <p:nvPr>
                <p:ph sz="half" idx="2"/>
              </p:nvPr>
            </p:nvSpPr>
            <p:spPr>
              <a:xfrm>
                <a:off x="6495394" y="1690688"/>
                <a:ext cx="5181600" cy="4351338"/>
              </a:xfrm>
              <a:blipFill>
                <a:blip r:embed="rId2"/>
                <a:stretch>
                  <a:fillRect l="-2824" t="-2801"/>
                </a:stretch>
              </a:blipFill>
            </p:spPr>
            <p:txBody>
              <a:bodyPr/>
              <a:lstStyle/>
              <a:p>
                <a:r>
                  <a:rPr lang="en-US">
                    <a:noFill/>
                  </a:rPr>
                  <a:t> </a:t>
                </a:r>
              </a:p>
            </p:txBody>
          </p:sp>
        </mc:Fallback>
      </mc:AlternateContent>
      <p:sp>
        <p:nvSpPr>
          <p:cNvPr id="2" name="Title 1">
            <a:extLst>
              <a:ext uri="{FF2B5EF4-FFF2-40B4-BE49-F238E27FC236}">
                <a16:creationId xmlns:a16="http://schemas.microsoft.com/office/drawing/2014/main" id="{059BE90D-02B0-EC30-CC62-F57BF906D7C8}"/>
              </a:ext>
            </a:extLst>
          </p:cNvPr>
          <p:cNvSpPr>
            <a:spLocks noGrp="1"/>
          </p:cNvSpPr>
          <p:nvPr>
            <p:ph type="title"/>
          </p:nvPr>
        </p:nvSpPr>
        <p:spPr/>
        <p:txBody>
          <a:bodyPr/>
          <a:lstStyle/>
          <a:p>
            <a:r>
              <a:rPr lang="en-US" dirty="0"/>
              <a:t>Cryogenic Propellants</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A01A42BA-2DD6-D895-A6A3-49290A7D4C64}"/>
                  </a:ext>
                </a:extLst>
              </p:cNvPr>
              <p:cNvSpPr>
                <a:spLocks noGrp="1"/>
              </p:cNvSpPr>
              <p:nvPr>
                <p:ph sz="half" idx="1"/>
              </p:nvPr>
            </p:nvSpPr>
            <p:spPr>
              <a:xfrm>
                <a:off x="838200" y="1725266"/>
                <a:ext cx="5181600" cy="4351338"/>
              </a:xfrm>
            </p:spPr>
            <p:txBody>
              <a:bodyPr>
                <a:normAutofit/>
              </a:bodyPr>
              <a:lstStyle/>
              <a:p>
                <a:pPr marL="0" indent="0">
                  <a:buNone/>
                </a:pPr>
                <a:r>
                  <a:rPr lang="en-US" sz="3000" i="1" dirty="0"/>
                  <a:t>Fuel</a:t>
                </a:r>
              </a:p>
              <a:p>
                <a:pPr marL="0" indent="0">
                  <a:buNone/>
                </a:pPr>
                <a:endParaRPr lang="en-US" dirty="0"/>
              </a:p>
              <a:p>
                <a:pPr marL="0" indent="0">
                  <a:buNone/>
                </a:pPr>
                <a:endParaRPr lang="en-US" dirty="0"/>
              </a:p>
              <a:p>
                <a:pPr marL="0" indent="0">
                  <a:buNone/>
                </a:pPr>
                <a:endParaRPr lang="en-US" dirty="0"/>
              </a:p>
              <a:p>
                <a:r>
                  <a:rPr lang="en-US" sz="1600" dirty="0"/>
                  <a:t>Molecular mass </a:t>
                </a:r>
                <a14:m>
                  <m:oMath xmlns:m="http://schemas.openxmlformats.org/officeDocument/2006/math">
                    <m:r>
                      <a:rPr lang="en-US" sz="1600" i="1">
                        <a:latin typeface="Cambria Math" panose="02040503050406030204" pitchFamily="18" charset="0"/>
                        <a:ea typeface="Cambria Math" panose="02040503050406030204" pitchFamily="18" charset="0"/>
                      </a:rPr>
                      <m:t>≈</m:t>
                    </m:r>
                  </m:oMath>
                </a14:m>
                <a:r>
                  <a:rPr lang="en-US" sz="1600" dirty="0"/>
                  <a:t> 2.016 g/mol</a:t>
                </a:r>
              </a:p>
              <a:p>
                <a:r>
                  <a:rPr lang="en-US" sz="1600" dirty="0"/>
                  <a:t>M.R = 6 (@ max Isp=450s)</a:t>
                </a:r>
              </a:p>
              <a:p>
                <a14:m>
                  <m:oMath xmlns:m="http://schemas.openxmlformats.org/officeDocument/2006/math">
                    <m:sSub>
                      <m:sSubPr>
                        <m:ctrlPr>
                          <a:rPr lang="en-US" sz="1600" i="1" smtClean="0">
                            <a:latin typeface="Cambria Math" panose="02040503050406030204" pitchFamily="18" charset="0"/>
                          </a:rPr>
                        </m:ctrlPr>
                      </m:sSubPr>
                      <m:e>
                        <m:r>
                          <m:rPr>
                            <m:sty m:val="p"/>
                          </m:rPr>
                          <a:rPr lang="en-US" sz="1600" b="0" i="1" smtClean="0">
                            <a:latin typeface="Cambria Math" panose="02040503050406030204" pitchFamily="18" charset="0"/>
                          </a:rPr>
                          <m:t>C</m:t>
                        </m:r>
                      </m:e>
                      <m:sub>
                        <m:r>
                          <m:rPr>
                            <m:sty m:val="p"/>
                          </m:rPr>
                          <a:rPr lang="en-US" sz="1600" b="0" i="1" smtClean="0">
                            <a:latin typeface="Cambria Math" panose="02040503050406030204" pitchFamily="18" charset="0"/>
                          </a:rPr>
                          <m:t>P</m:t>
                        </m:r>
                      </m:sub>
                    </m:sSub>
                  </m:oMath>
                </a14:m>
                <a:r>
                  <a:rPr lang="en-US" sz="1600" dirty="0"/>
                  <a:t> </a:t>
                </a:r>
                <a14:m>
                  <m:oMath xmlns:m="http://schemas.openxmlformats.org/officeDocument/2006/math">
                    <m:r>
                      <a:rPr lang="en-US" sz="1600" i="1">
                        <a:latin typeface="Cambria Math" panose="02040503050406030204" pitchFamily="18" charset="0"/>
                        <a:ea typeface="Cambria Math" panose="02040503050406030204" pitchFamily="18" charset="0"/>
                      </a:rPr>
                      <m:t>≈  </m:t>
                    </m:r>
                    <m:r>
                      <a:rPr lang="en-US" sz="1600" b="0" i="1" smtClean="0">
                        <a:latin typeface="Cambria Math" panose="02040503050406030204" pitchFamily="18" charset="0"/>
                        <a:ea typeface="Cambria Math" panose="02040503050406030204" pitchFamily="18" charset="0"/>
                      </a:rPr>
                      <m:t>9.6 − 14.3 </m:t>
                    </m:r>
                    <m:r>
                      <a:rPr lang="en-US" sz="1600" i="1">
                        <a:latin typeface="Cambria Math" panose="02040503050406030204" pitchFamily="18" charset="0"/>
                        <a:ea typeface="Cambria Math" panose="02040503050406030204" pitchFamily="18" charset="0"/>
                      </a:rPr>
                      <m:t> </m:t>
                    </m:r>
                    <m:r>
                      <m:rPr>
                        <m:sty m:val="p"/>
                      </m:rPr>
                      <a:rPr lang="en-US" sz="1600" i="1">
                        <a:latin typeface="Cambria Math" panose="02040503050406030204" pitchFamily="18" charset="0"/>
                        <a:ea typeface="Cambria Math" panose="02040503050406030204" pitchFamily="18" charset="0"/>
                      </a:rPr>
                      <m:t>KJ</m:t>
                    </m:r>
                    <m:r>
                      <a:rPr lang="en-US" sz="1600" i="1">
                        <a:latin typeface="Cambria Math" panose="02040503050406030204" pitchFamily="18" charset="0"/>
                        <a:ea typeface="Cambria Math" panose="02040503050406030204" pitchFamily="18" charset="0"/>
                      </a:rPr>
                      <m:t>/</m:t>
                    </m:r>
                    <m:r>
                      <m:rPr>
                        <m:sty m:val="p"/>
                      </m:rPr>
                      <a:rPr lang="en-US" sz="1600" i="1">
                        <a:latin typeface="Cambria Math" panose="02040503050406030204" pitchFamily="18" charset="0"/>
                        <a:ea typeface="Cambria Math" panose="02040503050406030204" pitchFamily="18" charset="0"/>
                      </a:rPr>
                      <m:t>Kg</m:t>
                    </m:r>
                    <m:r>
                      <a:rPr lang="en-US" sz="1600" i="1">
                        <a:latin typeface="Cambria Math" panose="02040503050406030204" pitchFamily="18" charset="0"/>
                        <a:ea typeface="Cambria Math" panose="02040503050406030204" pitchFamily="18" charset="0"/>
                      </a:rPr>
                      <m:t>.</m:t>
                    </m:r>
                    <m:r>
                      <m:rPr>
                        <m:sty m:val="p"/>
                      </m:rPr>
                      <a:rPr lang="en-US" sz="1600" i="1">
                        <a:latin typeface="Cambria Math" panose="02040503050406030204" pitchFamily="18" charset="0"/>
                        <a:ea typeface="Cambria Math" panose="02040503050406030204" pitchFamily="18" charset="0"/>
                      </a:rPr>
                      <m:t>K</m:t>
                    </m:r>
                  </m:oMath>
                </a14:m>
                <a:endParaRPr lang="en-US" sz="1600" dirty="0"/>
              </a:p>
              <a:p>
                <a14:m>
                  <m:oMath xmlns:m="http://schemas.openxmlformats.org/officeDocument/2006/math">
                    <m:r>
                      <a:rPr lang="en-US" sz="1600" i="1" smtClean="0">
                        <a:latin typeface="Cambria Math" panose="02040503050406030204" pitchFamily="18" charset="0"/>
                        <a:ea typeface="Cambria Math" panose="02040503050406030204" pitchFamily="18" charset="0"/>
                      </a:rPr>
                      <m:t>𝜌</m:t>
                    </m:r>
                  </m:oMath>
                </a14:m>
                <a:r>
                  <a:rPr lang="en-US" sz="1600" dirty="0">
                    <a:ea typeface="Cambria Math" panose="02040503050406030204" pitchFamily="18" charset="0"/>
                  </a:rPr>
                  <a:t> </a:t>
                </a:r>
                <a14:m>
                  <m:oMath xmlns:m="http://schemas.openxmlformats.org/officeDocument/2006/math">
                    <m:r>
                      <a:rPr lang="en-US" sz="1600" i="1">
                        <a:latin typeface="Cambria Math" panose="02040503050406030204" pitchFamily="18" charset="0"/>
                        <a:ea typeface="Cambria Math" panose="02040503050406030204" pitchFamily="18" charset="0"/>
                      </a:rPr>
                      <m:t>≈</m:t>
                    </m:r>
                    <m:r>
                      <a:rPr lang="en-US" sz="1600" b="0" i="1" smtClean="0">
                        <a:latin typeface="Cambria Math" panose="02040503050406030204" pitchFamily="18" charset="0"/>
                        <a:ea typeface="Cambria Math" panose="02040503050406030204" pitchFamily="18" charset="0"/>
                      </a:rPr>
                      <m:t> 70.8 </m:t>
                    </m:r>
                    <m:r>
                      <m:rPr>
                        <m:sty m:val="p"/>
                      </m:rPr>
                      <a:rPr lang="en-US" sz="1600" b="0" i="1" smtClean="0">
                        <a:latin typeface="Cambria Math" panose="02040503050406030204" pitchFamily="18" charset="0"/>
                        <a:ea typeface="Cambria Math" panose="02040503050406030204" pitchFamily="18" charset="0"/>
                      </a:rPr>
                      <m:t>Kg</m:t>
                    </m:r>
                    <m:r>
                      <a:rPr lang="en-US" sz="1600" b="0" i="1" smtClean="0">
                        <a:latin typeface="Cambria Math" panose="02040503050406030204" pitchFamily="18" charset="0"/>
                        <a:ea typeface="Cambria Math" panose="02040503050406030204" pitchFamily="18" charset="0"/>
                      </a:rPr>
                      <m:t>/</m:t>
                    </m:r>
                    <m:r>
                      <m:rPr>
                        <m:sty m:val="p"/>
                      </m:rPr>
                      <a:rPr lang="en-US" sz="1600" b="0" i="1" smtClean="0">
                        <a:latin typeface="Cambria Math" panose="02040503050406030204" pitchFamily="18" charset="0"/>
                        <a:ea typeface="Cambria Math" panose="02040503050406030204" pitchFamily="18" charset="0"/>
                      </a:rPr>
                      <m:t>m</m:t>
                    </m:r>
                    <m:r>
                      <a:rPr lang="en-US" sz="1600" b="0" i="1" smtClean="0">
                        <a:latin typeface="Cambria Math" panose="02040503050406030204" pitchFamily="18" charset="0"/>
                        <a:ea typeface="Cambria Math" panose="02040503050406030204" pitchFamily="18" charset="0"/>
                      </a:rPr>
                      <m:t>3</m:t>
                    </m:r>
                  </m:oMath>
                </a14:m>
                <a:endParaRPr lang="en-US" sz="1600" dirty="0"/>
              </a:p>
              <a:p>
                <a:endParaRPr lang="en-US" sz="1600" dirty="0"/>
              </a:p>
              <a:p>
                <a:pPr lvl="1"/>
                <a:endParaRPr lang="en-US" dirty="0"/>
              </a:p>
            </p:txBody>
          </p:sp>
        </mc:Choice>
        <mc:Fallback xmlns="">
          <p:sp>
            <p:nvSpPr>
              <p:cNvPr id="3" name="Content Placeholder 2">
                <a:extLst>
                  <a:ext uri="{FF2B5EF4-FFF2-40B4-BE49-F238E27FC236}">
                    <a16:creationId xmlns:a16="http://schemas.microsoft.com/office/drawing/2014/main" id="{A01A42BA-2DD6-D895-A6A3-49290A7D4C64}"/>
                  </a:ext>
                </a:extLst>
              </p:cNvPr>
              <p:cNvSpPr>
                <a:spLocks noGrp="1" noRot="1" noChangeAspect="1" noMove="1" noResize="1" noEditPoints="1" noAdjustHandles="1" noChangeArrowheads="1" noChangeShapeType="1" noTextEdit="1"/>
              </p:cNvSpPr>
              <p:nvPr>
                <p:ph sz="half" idx="1"/>
              </p:nvPr>
            </p:nvSpPr>
            <p:spPr>
              <a:xfrm>
                <a:off x="838200" y="1725266"/>
                <a:ext cx="5181600" cy="4351338"/>
              </a:xfrm>
              <a:blipFill>
                <a:blip r:embed="rId3"/>
                <a:stretch>
                  <a:fillRect l="-2824" t="-2801"/>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1" name="TextBox 10">
                <a:extLst>
                  <a:ext uri="{FF2B5EF4-FFF2-40B4-BE49-F238E27FC236}">
                    <a16:creationId xmlns:a16="http://schemas.microsoft.com/office/drawing/2014/main" id="{C78143F0-1902-7183-E98A-2EA2CA0A8EE8}"/>
                  </a:ext>
                </a:extLst>
              </p:cNvPr>
              <p:cNvSpPr txBox="1"/>
              <p:nvPr/>
            </p:nvSpPr>
            <p:spPr>
              <a:xfrm>
                <a:off x="838200" y="5619012"/>
                <a:ext cx="9475381" cy="338554"/>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sz="2200" i="1">
                              <a:latin typeface="Cambria Math" panose="02040503050406030204" pitchFamily="18" charset="0"/>
                            </a:rPr>
                          </m:ctrlPr>
                        </m:sSubPr>
                        <m:e>
                          <m:r>
                            <a:rPr lang="en-US" sz="2200" i="1">
                              <a:latin typeface="Cambria Math" panose="02040503050406030204" pitchFamily="18" charset="0"/>
                            </a:rPr>
                            <m:t>𝐻</m:t>
                          </m:r>
                        </m:e>
                        <m:sub>
                          <m:r>
                            <a:rPr lang="en-US" sz="2200" b="0" i="1" smtClean="0">
                              <a:latin typeface="Cambria Math" panose="02040503050406030204" pitchFamily="18" charset="0"/>
                            </a:rPr>
                            <m:t>2</m:t>
                          </m:r>
                        </m:sub>
                      </m:sSub>
                      <m:d>
                        <m:dPr>
                          <m:ctrlPr>
                            <a:rPr lang="en-US" sz="2200" i="1">
                              <a:latin typeface="Cambria Math" panose="02040503050406030204" pitchFamily="18" charset="0"/>
                            </a:rPr>
                          </m:ctrlPr>
                        </m:dPr>
                        <m:e>
                          <m:r>
                            <a:rPr lang="en-US" sz="2200" i="1">
                              <a:latin typeface="Cambria Math" panose="02040503050406030204" pitchFamily="18" charset="0"/>
                            </a:rPr>
                            <m:t>𝑙</m:t>
                          </m:r>
                        </m:e>
                      </m:d>
                      <m:r>
                        <a:rPr lang="en-US" sz="2200" i="1">
                          <a:latin typeface="Cambria Math" panose="02040503050406030204" pitchFamily="18" charset="0"/>
                        </a:rPr>
                        <m:t>+ </m:t>
                      </m:r>
                      <m:sSub>
                        <m:sSubPr>
                          <m:ctrlPr>
                            <a:rPr lang="en-US" sz="2200" i="1">
                              <a:latin typeface="Cambria Math" panose="02040503050406030204" pitchFamily="18" charset="0"/>
                            </a:rPr>
                          </m:ctrlPr>
                        </m:sSubPr>
                        <m:e>
                          <m:r>
                            <a:rPr lang="en-US" sz="2200" i="1">
                              <a:latin typeface="Cambria Math" panose="02040503050406030204" pitchFamily="18" charset="0"/>
                            </a:rPr>
                            <m:t>𝑂</m:t>
                          </m:r>
                        </m:e>
                        <m:sub>
                          <m:r>
                            <a:rPr lang="en-US" sz="2200" i="1">
                              <a:latin typeface="Cambria Math" panose="02040503050406030204" pitchFamily="18" charset="0"/>
                            </a:rPr>
                            <m:t>2</m:t>
                          </m:r>
                        </m:sub>
                      </m:sSub>
                      <m:d>
                        <m:dPr>
                          <m:ctrlPr>
                            <a:rPr lang="en-US" sz="2200" i="1">
                              <a:latin typeface="Cambria Math" panose="02040503050406030204" pitchFamily="18" charset="0"/>
                            </a:rPr>
                          </m:ctrlPr>
                        </m:dPr>
                        <m:e>
                          <m:r>
                            <a:rPr lang="en-US" sz="2200" i="1">
                              <a:latin typeface="Cambria Math" panose="02040503050406030204" pitchFamily="18" charset="0"/>
                            </a:rPr>
                            <m:t>𝑙</m:t>
                          </m:r>
                        </m:e>
                      </m:d>
                      <m:r>
                        <a:rPr lang="en-US" sz="2200" i="1">
                          <a:latin typeface="Cambria Math" panose="02040503050406030204" pitchFamily="18" charset="0"/>
                        </a:rPr>
                        <m:t>→</m:t>
                      </m:r>
                      <m:sSub>
                        <m:sSubPr>
                          <m:ctrlPr>
                            <a:rPr lang="en-US" sz="2200" i="1">
                              <a:latin typeface="Cambria Math" panose="02040503050406030204" pitchFamily="18" charset="0"/>
                            </a:rPr>
                          </m:ctrlPr>
                        </m:sSubPr>
                        <m:e>
                          <m:r>
                            <m:rPr>
                              <m:sty m:val="p"/>
                            </m:rPr>
                            <a:rPr lang="en-US" sz="2200" b="0" i="1" smtClean="0">
                              <a:latin typeface="Cambria Math" panose="02040503050406030204" pitchFamily="18" charset="0"/>
                            </a:rPr>
                            <m:t>H</m:t>
                          </m:r>
                        </m:e>
                        <m:sub>
                          <m:r>
                            <a:rPr lang="en-US" sz="2200" i="1">
                              <a:latin typeface="Cambria Math" panose="02040503050406030204" pitchFamily="18" charset="0"/>
                            </a:rPr>
                            <m:t>2</m:t>
                          </m:r>
                        </m:sub>
                      </m:sSub>
                      <m:d>
                        <m:dPr>
                          <m:ctrlPr>
                            <a:rPr lang="en-US" sz="2200" i="1">
                              <a:latin typeface="Cambria Math" panose="02040503050406030204" pitchFamily="18" charset="0"/>
                            </a:rPr>
                          </m:ctrlPr>
                        </m:dPr>
                        <m:e>
                          <m:r>
                            <a:rPr lang="en-US" sz="2200" i="1">
                              <a:latin typeface="Cambria Math" panose="02040503050406030204" pitchFamily="18" charset="0"/>
                            </a:rPr>
                            <m:t>𝑔</m:t>
                          </m:r>
                        </m:e>
                      </m:d>
                      <m:r>
                        <a:rPr lang="en-US" sz="2200" b="0" i="1" smtClean="0">
                          <a:latin typeface="Cambria Math" panose="02040503050406030204" pitchFamily="18" charset="0"/>
                        </a:rPr>
                        <m:t>+</m:t>
                      </m:r>
                      <m:sSub>
                        <m:sSubPr>
                          <m:ctrlPr>
                            <a:rPr lang="en-US" sz="2200" i="1">
                              <a:latin typeface="Cambria Math" panose="02040503050406030204" pitchFamily="18" charset="0"/>
                            </a:rPr>
                          </m:ctrlPr>
                        </m:sSubPr>
                        <m:e>
                          <m:r>
                            <a:rPr lang="en-US" sz="2200" i="1">
                              <a:latin typeface="Cambria Math" panose="02040503050406030204" pitchFamily="18" charset="0"/>
                            </a:rPr>
                            <m:t>𝑂</m:t>
                          </m:r>
                        </m:e>
                        <m:sub>
                          <m:r>
                            <a:rPr lang="en-US" sz="2200" i="1">
                              <a:latin typeface="Cambria Math" panose="02040503050406030204" pitchFamily="18" charset="0"/>
                            </a:rPr>
                            <m:t>2</m:t>
                          </m:r>
                        </m:sub>
                      </m:sSub>
                      <m:d>
                        <m:dPr>
                          <m:ctrlPr>
                            <a:rPr lang="en-US" sz="2200" i="1">
                              <a:latin typeface="Cambria Math" panose="02040503050406030204" pitchFamily="18" charset="0"/>
                            </a:rPr>
                          </m:ctrlPr>
                        </m:dPr>
                        <m:e>
                          <m:r>
                            <a:rPr lang="en-US" sz="2200" i="1">
                              <a:latin typeface="Cambria Math" panose="02040503050406030204" pitchFamily="18" charset="0"/>
                            </a:rPr>
                            <m:t>𝑔</m:t>
                          </m:r>
                        </m:e>
                      </m:d>
                      <m:r>
                        <a:rPr lang="en-US" sz="2200" i="1">
                          <a:latin typeface="Cambria Math" panose="02040503050406030204" pitchFamily="18" charset="0"/>
                        </a:rPr>
                        <m:t> + </m:t>
                      </m:r>
                      <m:sSub>
                        <m:sSubPr>
                          <m:ctrlPr>
                            <a:rPr lang="en-US" sz="2200" b="0" i="1" smtClean="0">
                              <a:latin typeface="Cambria Math" panose="02040503050406030204" pitchFamily="18" charset="0"/>
                            </a:rPr>
                          </m:ctrlPr>
                        </m:sSubPr>
                        <m:e>
                          <m:r>
                            <m:rPr>
                              <m:sty m:val="p"/>
                            </m:rPr>
                            <a:rPr lang="en-US" sz="2200" b="0" i="1" smtClean="0">
                              <a:latin typeface="Cambria Math" panose="02040503050406030204" pitchFamily="18" charset="0"/>
                            </a:rPr>
                            <m:t>H</m:t>
                          </m:r>
                        </m:e>
                        <m:sub>
                          <m:r>
                            <a:rPr lang="en-US" sz="2200" b="0" i="1" smtClean="0">
                              <a:latin typeface="Cambria Math" panose="02040503050406030204" pitchFamily="18" charset="0"/>
                            </a:rPr>
                            <m:t>2</m:t>
                          </m:r>
                        </m:sub>
                      </m:sSub>
                      <m:r>
                        <m:rPr>
                          <m:sty m:val="p"/>
                        </m:rPr>
                        <a:rPr lang="en-US" sz="2200" b="0" i="1" smtClean="0">
                          <a:latin typeface="Cambria Math" panose="02040503050406030204" pitchFamily="18" charset="0"/>
                        </a:rPr>
                        <m:t>O</m:t>
                      </m:r>
                      <m:d>
                        <m:dPr>
                          <m:ctrlPr>
                            <a:rPr lang="en-US" sz="2200" i="1">
                              <a:latin typeface="Cambria Math" panose="02040503050406030204" pitchFamily="18" charset="0"/>
                            </a:rPr>
                          </m:ctrlPr>
                        </m:dPr>
                        <m:e>
                          <m:r>
                            <a:rPr lang="en-US" sz="2200" i="1">
                              <a:latin typeface="Cambria Math" panose="02040503050406030204" pitchFamily="18" charset="0"/>
                            </a:rPr>
                            <m:t>𝑙</m:t>
                          </m:r>
                        </m:e>
                      </m:d>
                      <m:r>
                        <a:rPr lang="en-US" sz="2200" i="1">
                          <a:latin typeface="Cambria Math" panose="02040503050406030204" pitchFamily="18" charset="0"/>
                        </a:rPr>
                        <m:t>+ </m:t>
                      </m:r>
                      <m:sSub>
                        <m:sSubPr>
                          <m:ctrlPr>
                            <a:rPr lang="en-US" sz="2200" i="1">
                              <a:latin typeface="Cambria Math" panose="02040503050406030204" pitchFamily="18" charset="0"/>
                            </a:rPr>
                          </m:ctrlPr>
                        </m:sSubPr>
                        <m:e>
                          <m:r>
                            <m:rPr>
                              <m:sty m:val="p"/>
                            </m:rPr>
                            <a:rPr lang="en-US" sz="2200" b="0" i="1" smtClean="0">
                              <a:latin typeface="Cambria Math" panose="02040503050406030204" pitchFamily="18" charset="0"/>
                            </a:rPr>
                            <m:t>H</m:t>
                          </m:r>
                        </m:e>
                        <m:sub>
                          <m:r>
                            <a:rPr lang="en-US" sz="2200" i="1">
                              <a:latin typeface="Cambria Math" panose="02040503050406030204" pitchFamily="18" charset="0"/>
                            </a:rPr>
                            <m:t>2</m:t>
                          </m:r>
                        </m:sub>
                      </m:sSub>
                      <m:sSub>
                        <m:sSubPr>
                          <m:ctrlPr>
                            <a:rPr lang="en-US" sz="2200" b="0" i="1" smtClean="0">
                              <a:latin typeface="Cambria Math" panose="02040503050406030204" pitchFamily="18" charset="0"/>
                            </a:rPr>
                          </m:ctrlPr>
                        </m:sSubPr>
                        <m:e>
                          <m:r>
                            <m:rPr>
                              <m:sty m:val="p"/>
                            </m:rPr>
                            <a:rPr lang="en-US" sz="2200" b="0" i="1" smtClean="0">
                              <a:latin typeface="Cambria Math" panose="02040503050406030204" pitchFamily="18" charset="0"/>
                            </a:rPr>
                            <m:t>O</m:t>
                          </m:r>
                        </m:e>
                        <m:sub>
                          <m:r>
                            <a:rPr lang="en-US" sz="2200" b="0" i="1" smtClean="0">
                              <a:latin typeface="Cambria Math" panose="02040503050406030204" pitchFamily="18" charset="0"/>
                            </a:rPr>
                            <m:t>2</m:t>
                          </m:r>
                        </m:sub>
                      </m:sSub>
                      <m:r>
                        <a:rPr lang="en-US" sz="2200" b="0" i="0" smtClean="0">
                          <a:latin typeface="Cambria Math" panose="02040503050406030204" pitchFamily="18" charset="0"/>
                        </a:rPr>
                        <m:t>+ </m:t>
                      </m:r>
                      <m:sSub>
                        <m:sSubPr>
                          <m:ctrlPr>
                            <a:rPr lang="en-US" sz="2200" b="0" i="1" smtClean="0">
                              <a:latin typeface="Cambria Math" panose="02040503050406030204" pitchFamily="18" charset="0"/>
                            </a:rPr>
                          </m:ctrlPr>
                        </m:sSubPr>
                        <m:e>
                          <m:r>
                            <m:rPr>
                              <m:sty m:val="p"/>
                            </m:rPr>
                            <a:rPr lang="en-US" sz="2200" b="0" i="1" smtClean="0">
                              <a:latin typeface="Cambria Math" panose="02040503050406030204" pitchFamily="18" charset="0"/>
                            </a:rPr>
                            <m:t>HO</m:t>
                          </m:r>
                        </m:e>
                        <m:sub>
                          <m:r>
                            <a:rPr lang="en-US" sz="2200" b="0" i="1" smtClean="0">
                              <a:latin typeface="Cambria Math" panose="02040503050406030204" pitchFamily="18" charset="0"/>
                            </a:rPr>
                            <m:t>2</m:t>
                          </m:r>
                        </m:sub>
                      </m:sSub>
                      <m:r>
                        <a:rPr lang="en-US" sz="2200" b="0" i="0" smtClean="0">
                          <a:latin typeface="Cambria Math" panose="02040503050406030204" pitchFamily="18" charset="0"/>
                        </a:rPr>
                        <m:t>+</m:t>
                      </m:r>
                      <m:r>
                        <m:rPr>
                          <m:sty m:val="p"/>
                        </m:rPr>
                        <a:rPr lang="en-US" sz="2200" b="0" i="0" smtClean="0">
                          <a:latin typeface="Cambria Math" panose="02040503050406030204" pitchFamily="18" charset="0"/>
                        </a:rPr>
                        <m:t>H</m:t>
                      </m:r>
                      <m:r>
                        <a:rPr lang="en-US" sz="2200" b="0" i="0" smtClean="0">
                          <a:latin typeface="Cambria Math" panose="02040503050406030204" pitchFamily="18" charset="0"/>
                        </a:rPr>
                        <m:t>∗+</m:t>
                      </m:r>
                      <m:r>
                        <m:rPr>
                          <m:sty m:val="p"/>
                        </m:rPr>
                        <a:rPr lang="en-US" sz="2200" b="0" i="0" smtClean="0">
                          <a:latin typeface="Cambria Math" panose="02040503050406030204" pitchFamily="18" charset="0"/>
                        </a:rPr>
                        <m:t>O</m:t>
                      </m:r>
                      <m:r>
                        <a:rPr lang="en-US" sz="2200" b="0" i="0" smtClean="0">
                          <a:latin typeface="Cambria Math" panose="02040503050406030204" pitchFamily="18" charset="0"/>
                        </a:rPr>
                        <m:t>∗+</m:t>
                      </m:r>
                      <m:r>
                        <m:rPr>
                          <m:sty m:val="p"/>
                        </m:rPr>
                        <a:rPr lang="en-US" sz="2200" b="0" i="0" smtClean="0">
                          <a:latin typeface="Cambria Math" panose="02040503050406030204" pitchFamily="18" charset="0"/>
                        </a:rPr>
                        <m:t>OH</m:t>
                      </m:r>
                      <m:r>
                        <a:rPr lang="en-US" sz="2200" b="0" i="0" smtClean="0">
                          <a:latin typeface="Cambria Math" panose="02040503050406030204" pitchFamily="18" charset="0"/>
                        </a:rPr>
                        <m:t>∗</m:t>
                      </m:r>
                    </m:oMath>
                  </m:oMathPara>
                </a14:m>
                <a:endParaRPr lang="en-US" sz="2200" dirty="0"/>
              </a:p>
            </p:txBody>
          </p:sp>
        </mc:Choice>
        <mc:Fallback xmlns="">
          <p:sp>
            <p:nvSpPr>
              <p:cNvPr id="11" name="TextBox 10">
                <a:extLst>
                  <a:ext uri="{FF2B5EF4-FFF2-40B4-BE49-F238E27FC236}">
                    <a16:creationId xmlns:a16="http://schemas.microsoft.com/office/drawing/2014/main" id="{C78143F0-1902-7183-E98A-2EA2CA0A8EE8}"/>
                  </a:ext>
                </a:extLst>
              </p:cNvPr>
              <p:cNvSpPr txBox="1">
                <a:spLocks noRot="1" noChangeAspect="1" noMove="1" noResize="1" noEditPoints="1" noAdjustHandles="1" noChangeArrowheads="1" noChangeShapeType="1" noTextEdit="1"/>
              </p:cNvSpPr>
              <p:nvPr/>
            </p:nvSpPr>
            <p:spPr>
              <a:xfrm>
                <a:off x="838200" y="5619012"/>
                <a:ext cx="9475381" cy="338554"/>
              </a:xfrm>
              <a:prstGeom prst="rect">
                <a:avLst/>
              </a:prstGeom>
              <a:blipFill>
                <a:blip r:embed="rId4"/>
                <a:stretch>
                  <a:fillRect b="-25455"/>
                </a:stretch>
              </a:blipFill>
            </p:spPr>
            <p:txBody>
              <a:bodyPr/>
              <a:lstStyle/>
              <a:p>
                <a:r>
                  <a:rPr lang="en-US">
                    <a:noFill/>
                  </a:rPr>
                  <a:t> </a:t>
                </a:r>
              </a:p>
            </p:txBody>
          </p:sp>
        </mc:Fallback>
      </mc:AlternateContent>
      <p:sp>
        <p:nvSpPr>
          <p:cNvPr id="12" name="TextBox 11">
            <a:extLst>
              <a:ext uri="{FF2B5EF4-FFF2-40B4-BE49-F238E27FC236}">
                <a16:creationId xmlns:a16="http://schemas.microsoft.com/office/drawing/2014/main" id="{C4441ECE-231F-A7F8-F7D9-263E9A4B7CBC}"/>
              </a:ext>
            </a:extLst>
          </p:cNvPr>
          <p:cNvSpPr txBox="1"/>
          <p:nvPr/>
        </p:nvSpPr>
        <p:spPr>
          <a:xfrm>
            <a:off x="1418105" y="2321004"/>
            <a:ext cx="1499128" cy="1107996"/>
          </a:xfrm>
          <a:prstGeom prst="rect">
            <a:avLst/>
          </a:prstGeom>
          <a:noFill/>
        </p:spPr>
        <p:txBody>
          <a:bodyPr wrap="none" rtlCol="0">
            <a:spAutoFit/>
          </a:bodyPr>
          <a:lstStyle/>
          <a:p>
            <a:r>
              <a:rPr lang="en-US" sz="6600" dirty="0"/>
              <a:t>H-H</a:t>
            </a:r>
          </a:p>
        </p:txBody>
      </p:sp>
      <p:cxnSp>
        <p:nvCxnSpPr>
          <p:cNvPr id="14" name="Straight Connector 13">
            <a:extLst>
              <a:ext uri="{FF2B5EF4-FFF2-40B4-BE49-F238E27FC236}">
                <a16:creationId xmlns:a16="http://schemas.microsoft.com/office/drawing/2014/main" id="{79CE1318-2EC2-F3A7-C1DF-1150ACC4F806}"/>
              </a:ext>
            </a:extLst>
          </p:cNvPr>
          <p:cNvCxnSpPr/>
          <p:nvPr/>
        </p:nvCxnSpPr>
        <p:spPr>
          <a:xfrm>
            <a:off x="838200" y="5475767"/>
            <a:ext cx="10017642" cy="0"/>
          </a:xfrm>
          <a:prstGeom prst="line">
            <a:avLst/>
          </a:prstGeom>
        </p:spPr>
        <p:style>
          <a:lnRef idx="1">
            <a:schemeClr val="accent1"/>
          </a:lnRef>
          <a:fillRef idx="0">
            <a:schemeClr val="accent1"/>
          </a:fillRef>
          <a:effectRef idx="0">
            <a:schemeClr val="accent1"/>
          </a:effectRef>
          <a:fontRef idx="minor">
            <a:schemeClr val="tx1"/>
          </a:fontRef>
        </p:style>
      </p:cxnSp>
      <p:sp>
        <p:nvSpPr>
          <p:cNvPr id="5" name="TextBox 4">
            <a:extLst>
              <a:ext uri="{FF2B5EF4-FFF2-40B4-BE49-F238E27FC236}">
                <a16:creationId xmlns:a16="http://schemas.microsoft.com/office/drawing/2014/main" id="{F79E8C0B-9FBB-19C0-2F28-7E38D66F8C63}"/>
              </a:ext>
            </a:extLst>
          </p:cNvPr>
          <p:cNvSpPr txBox="1"/>
          <p:nvPr/>
        </p:nvSpPr>
        <p:spPr>
          <a:xfrm>
            <a:off x="7182342" y="2321004"/>
            <a:ext cx="1728358" cy="1107996"/>
          </a:xfrm>
          <a:prstGeom prst="rect">
            <a:avLst/>
          </a:prstGeom>
          <a:noFill/>
        </p:spPr>
        <p:txBody>
          <a:bodyPr wrap="none" rtlCol="0">
            <a:spAutoFit/>
          </a:bodyPr>
          <a:lstStyle/>
          <a:p>
            <a:r>
              <a:rPr lang="en-US" sz="6600" dirty="0"/>
              <a:t>O=O</a:t>
            </a:r>
          </a:p>
        </p:txBody>
      </p:sp>
    </p:spTree>
    <p:extLst>
      <p:ext uri="{BB962C8B-B14F-4D97-AF65-F5344CB8AC3E}">
        <p14:creationId xmlns:p14="http://schemas.microsoft.com/office/powerpoint/2010/main" val="176435090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4C6195-31D8-4A9F-C06E-4A70BB1AF9E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748B676-B7A0-40BE-9FDE-4D6564828BAD}"/>
              </a:ext>
            </a:extLst>
          </p:cNvPr>
          <p:cNvSpPr>
            <a:spLocks noGrp="1"/>
          </p:cNvSpPr>
          <p:nvPr>
            <p:ph type="title"/>
          </p:nvPr>
        </p:nvSpPr>
        <p:spPr/>
        <p:txBody>
          <a:bodyPr/>
          <a:lstStyle/>
          <a:p>
            <a:r>
              <a:rPr lang="en-US" dirty="0"/>
              <a:t>Active Stabilization</a:t>
            </a:r>
          </a:p>
        </p:txBody>
      </p:sp>
      <p:sp>
        <p:nvSpPr>
          <p:cNvPr id="3" name="Content Placeholder 2">
            <a:extLst>
              <a:ext uri="{FF2B5EF4-FFF2-40B4-BE49-F238E27FC236}">
                <a16:creationId xmlns:a16="http://schemas.microsoft.com/office/drawing/2014/main" id="{5BA38CAE-EA8E-397A-A55E-6205B66F31E5}"/>
              </a:ext>
            </a:extLst>
          </p:cNvPr>
          <p:cNvSpPr>
            <a:spLocks noGrp="1"/>
          </p:cNvSpPr>
          <p:nvPr>
            <p:ph idx="1"/>
          </p:nvPr>
        </p:nvSpPr>
        <p:spPr>
          <a:xfrm>
            <a:off x="838200" y="1781021"/>
            <a:ext cx="10515600" cy="4351338"/>
          </a:xfrm>
        </p:spPr>
        <p:txBody>
          <a:bodyPr/>
          <a:lstStyle/>
          <a:p>
            <a:pPr marL="0" indent="0">
              <a:buNone/>
            </a:pPr>
            <a:r>
              <a:rPr lang="en-US" sz="1800" b="1" dirty="0"/>
              <a:t>Control system</a:t>
            </a:r>
            <a:r>
              <a:rPr lang="en-US" sz="1800" dirty="0"/>
              <a:t> design refers to a </a:t>
            </a:r>
            <a:r>
              <a:rPr lang="en-US" sz="1800" i="1" dirty="0"/>
              <a:t>microcontrollers</a:t>
            </a:r>
            <a:r>
              <a:rPr lang="en-US" sz="1800" dirty="0"/>
              <a:t> &amp; </a:t>
            </a:r>
            <a:r>
              <a:rPr lang="en-US" sz="1800" i="1" dirty="0"/>
              <a:t>actuators </a:t>
            </a:r>
            <a:r>
              <a:rPr lang="en-US" sz="1800" dirty="0"/>
              <a:t>used as active control measures against high frequency combustion instability. There are various active control measures that are highly effective. However, due to the physical processes such as injection, vaporization and combustion involved there is always a time lag between instability and response. </a:t>
            </a:r>
          </a:p>
          <a:p>
            <a:pPr marL="0" indent="0">
              <a:buNone/>
            </a:pPr>
            <a:r>
              <a:rPr lang="en-US" sz="1800" dirty="0"/>
              <a:t>Using </a:t>
            </a:r>
            <a:r>
              <a:rPr lang="en-US" sz="1800" b="1" dirty="0"/>
              <a:t>Active Stabilization</a:t>
            </a:r>
            <a:r>
              <a:rPr lang="en-US" sz="1800" dirty="0"/>
              <a:t>;</a:t>
            </a:r>
          </a:p>
          <a:p>
            <a:pPr lvl="1"/>
            <a:r>
              <a:rPr lang="en-US" sz="1800" dirty="0"/>
              <a:t>Active pulse cancellation</a:t>
            </a:r>
          </a:p>
          <a:p>
            <a:pPr lvl="1"/>
            <a:r>
              <a:rPr lang="en-US" sz="1800" dirty="0"/>
              <a:t>Throttling of fuel</a:t>
            </a:r>
          </a:p>
          <a:p>
            <a:pPr lvl="1"/>
            <a:r>
              <a:rPr lang="en-US" sz="1800" dirty="0"/>
              <a:t>Active feedback Control</a:t>
            </a:r>
          </a:p>
          <a:p>
            <a:pPr lvl="1"/>
            <a:r>
              <a:rPr lang="en-US" sz="1800" dirty="0"/>
              <a:t>Adjusting Injection pressure</a:t>
            </a:r>
          </a:p>
          <a:p>
            <a:endParaRPr lang="en-US" dirty="0"/>
          </a:p>
        </p:txBody>
      </p:sp>
      <p:pic>
        <p:nvPicPr>
          <p:cNvPr id="5" name="Picture 4">
            <a:extLst>
              <a:ext uri="{FF2B5EF4-FFF2-40B4-BE49-F238E27FC236}">
                <a16:creationId xmlns:a16="http://schemas.microsoft.com/office/drawing/2014/main" id="{457AF3D1-7F2C-BA6A-E3E7-E50E8492AC6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492319" y="2822228"/>
            <a:ext cx="6096000" cy="3475338"/>
          </a:xfrm>
          <a:prstGeom prst="rect">
            <a:avLst/>
          </a:prstGeom>
        </p:spPr>
      </p:pic>
      <p:sp>
        <p:nvSpPr>
          <p:cNvPr id="6" name="TextBox 5">
            <a:extLst>
              <a:ext uri="{FF2B5EF4-FFF2-40B4-BE49-F238E27FC236}">
                <a16:creationId xmlns:a16="http://schemas.microsoft.com/office/drawing/2014/main" id="{23F741DB-9468-5C23-A06D-4F4754E74807}"/>
              </a:ext>
            </a:extLst>
          </p:cNvPr>
          <p:cNvSpPr txBox="1"/>
          <p:nvPr/>
        </p:nvSpPr>
        <p:spPr>
          <a:xfrm>
            <a:off x="2780069" y="5298521"/>
            <a:ext cx="1838132" cy="369332"/>
          </a:xfrm>
          <a:prstGeom prst="rect">
            <a:avLst/>
          </a:prstGeom>
          <a:noFill/>
        </p:spPr>
        <p:txBody>
          <a:bodyPr wrap="none" rtlCol="0">
            <a:spAutoFit/>
          </a:bodyPr>
          <a:lstStyle/>
          <a:p>
            <a:r>
              <a:rPr lang="en-US" i="1" dirty="0"/>
              <a:t>Notable example:</a:t>
            </a:r>
          </a:p>
        </p:txBody>
      </p:sp>
    </p:spTree>
    <p:extLst>
      <p:ext uri="{BB962C8B-B14F-4D97-AF65-F5344CB8AC3E}">
        <p14:creationId xmlns:p14="http://schemas.microsoft.com/office/powerpoint/2010/main" val="271742914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55327B0-1794-DB6D-1627-DF952371012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E3A56D0-CDA7-60AE-E8D8-EDC70C94BB72}"/>
              </a:ext>
            </a:extLst>
          </p:cNvPr>
          <p:cNvSpPr>
            <a:spLocks noGrp="1"/>
          </p:cNvSpPr>
          <p:nvPr>
            <p:ph type="title"/>
          </p:nvPr>
        </p:nvSpPr>
        <p:spPr/>
        <p:txBody>
          <a:bodyPr/>
          <a:lstStyle/>
          <a:p>
            <a:r>
              <a:rPr lang="en-US" dirty="0"/>
              <a:t>Model</a:t>
            </a:r>
          </a:p>
        </p:txBody>
      </p:sp>
      <p:pic>
        <p:nvPicPr>
          <p:cNvPr id="22" name="Picture 21">
            <a:extLst>
              <a:ext uri="{FF2B5EF4-FFF2-40B4-BE49-F238E27FC236}">
                <a16:creationId xmlns:a16="http://schemas.microsoft.com/office/drawing/2014/main" id="{B2D08AC5-E1DC-0FEE-0B84-76E9DDB2CB8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62151" y="1481306"/>
            <a:ext cx="7252137" cy="5116671"/>
          </a:xfrm>
          <a:prstGeom prst="rect">
            <a:avLst/>
          </a:prstGeom>
          <a:ln w="12700">
            <a:solidFill>
              <a:schemeClr val="tx1"/>
            </a:solidFill>
            <a:prstDash val="dash"/>
          </a:ln>
        </p:spPr>
      </p:pic>
      <p:sp>
        <p:nvSpPr>
          <p:cNvPr id="4" name="Content Placeholder 2">
            <a:extLst>
              <a:ext uri="{FF2B5EF4-FFF2-40B4-BE49-F238E27FC236}">
                <a16:creationId xmlns:a16="http://schemas.microsoft.com/office/drawing/2014/main" id="{4F6FF5B7-D2E7-3544-9794-63A82DA915E7}"/>
              </a:ext>
            </a:extLst>
          </p:cNvPr>
          <p:cNvSpPr>
            <a:spLocks noGrp="1"/>
          </p:cNvSpPr>
          <p:nvPr>
            <p:ph idx="1"/>
          </p:nvPr>
        </p:nvSpPr>
        <p:spPr>
          <a:xfrm>
            <a:off x="8719644" y="1690688"/>
            <a:ext cx="10515600" cy="4351338"/>
          </a:xfrm>
        </p:spPr>
        <p:txBody>
          <a:bodyPr/>
          <a:lstStyle/>
          <a:p>
            <a:pPr marL="0" indent="0">
              <a:buNone/>
            </a:pPr>
            <a:r>
              <a:rPr lang="en-US" sz="1800" u="sng" dirty="0"/>
              <a:t>Accessing Requirements</a:t>
            </a:r>
          </a:p>
          <a:p>
            <a:pPr lvl="1"/>
            <a:r>
              <a:rPr lang="en-US" sz="1400" i="1" dirty="0">
                <a:effectLst>
                  <a:outerShdw blurRad="38100" dist="38100" dir="2700000" algn="tl">
                    <a:srgbClr val="000000">
                      <a:alpha val="43137"/>
                    </a:srgbClr>
                  </a:outerShdw>
                </a:effectLst>
              </a:rPr>
              <a:t>Transient state </a:t>
            </a:r>
          </a:p>
          <a:p>
            <a:pPr lvl="1"/>
            <a:r>
              <a:rPr lang="en-US" sz="1400" i="1" dirty="0">
                <a:effectLst>
                  <a:outerShdw blurRad="38100" dist="38100" dir="2700000" algn="tl">
                    <a:srgbClr val="000000">
                      <a:alpha val="43137"/>
                    </a:srgbClr>
                  </a:outerShdw>
                </a:effectLst>
              </a:rPr>
              <a:t>Compressible</a:t>
            </a:r>
          </a:p>
          <a:p>
            <a:pPr lvl="1"/>
            <a:r>
              <a:rPr lang="en-US" sz="1400" i="1" dirty="0">
                <a:effectLst>
                  <a:outerShdw blurRad="38100" dist="38100" dir="2700000" algn="tl">
                    <a:srgbClr val="000000">
                      <a:alpha val="43137"/>
                    </a:srgbClr>
                  </a:outerShdw>
                </a:effectLst>
              </a:rPr>
              <a:t>Turbulence</a:t>
            </a:r>
          </a:p>
          <a:p>
            <a:pPr lvl="1"/>
            <a:r>
              <a:rPr lang="en-US" sz="1400" i="1" dirty="0">
                <a:effectLst>
                  <a:outerShdw blurRad="38100" dist="38100" dir="2700000" algn="tl">
                    <a:srgbClr val="000000">
                      <a:alpha val="43137"/>
                    </a:srgbClr>
                  </a:outerShdw>
                </a:effectLst>
              </a:rPr>
              <a:t>HT</a:t>
            </a:r>
          </a:p>
          <a:p>
            <a:pPr lvl="1"/>
            <a:r>
              <a:rPr lang="en-US" sz="1400" i="1" dirty="0">
                <a:effectLst>
                  <a:outerShdw blurRad="38100" dist="38100" dir="2700000" algn="tl">
                    <a:srgbClr val="000000">
                      <a:alpha val="43137"/>
                    </a:srgbClr>
                  </a:outerShdw>
                </a:effectLst>
              </a:rPr>
              <a:t>Buoyancy</a:t>
            </a:r>
          </a:p>
          <a:p>
            <a:pPr lvl="1"/>
            <a:r>
              <a:rPr lang="en-US" sz="1400" i="1" dirty="0">
                <a:effectLst>
                  <a:outerShdw blurRad="38100" dist="38100" dir="2700000" algn="tl">
                    <a:srgbClr val="000000">
                      <a:alpha val="43137"/>
                    </a:srgbClr>
                  </a:outerShdw>
                </a:effectLst>
              </a:rPr>
              <a:t>Combustion</a:t>
            </a:r>
          </a:p>
          <a:p>
            <a:pPr lvl="1"/>
            <a:r>
              <a:rPr lang="en-US" sz="1400" i="1" dirty="0">
                <a:effectLst>
                  <a:outerShdw blurRad="38100" dist="38100" dir="2700000" algn="tl">
                    <a:srgbClr val="000000">
                      <a:alpha val="43137"/>
                    </a:srgbClr>
                  </a:outerShdw>
                </a:effectLst>
              </a:rPr>
              <a:t>Particles</a:t>
            </a:r>
          </a:p>
          <a:p>
            <a:pPr lvl="1"/>
            <a:r>
              <a:rPr lang="en-US" sz="1400" i="1" dirty="0">
                <a:effectLst>
                  <a:outerShdw blurRad="38100" dist="38100" dir="2700000" algn="tl">
                    <a:srgbClr val="000000">
                      <a:alpha val="43137"/>
                    </a:srgbClr>
                  </a:outerShdw>
                </a:effectLst>
              </a:rPr>
              <a:t>fvOptions</a:t>
            </a:r>
          </a:p>
          <a:p>
            <a:pPr lvl="1"/>
            <a:endParaRPr lang="en-US" sz="1400" dirty="0"/>
          </a:p>
          <a:p>
            <a:endParaRPr lang="en-US" dirty="0"/>
          </a:p>
        </p:txBody>
      </p:sp>
    </p:spTree>
    <p:extLst>
      <p:ext uri="{BB962C8B-B14F-4D97-AF65-F5344CB8AC3E}">
        <p14:creationId xmlns:p14="http://schemas.microsoft.com/office/powerpoint/2010/main" val="267798982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A3B88AA-62F2-8460-05D6-64A7B7159B1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27C7AA7-A84B-A0B5-4098-C7B359077082}"/>
              </a:ext>
            </a:extLst>
          </p:cNvPr>
          <p:cNvSpPr>
            <a:spLocks noGrp="1"/>
          </p:cNvSpPr>
          <p:nvPr>
            <p:ph type="title"/>
          </p:nvPr>
        </p:nvSpPr>
        <p:spPr/>
        <p:txBody>
          <a:bodyPr/>
          <a:lstStyle/>
          <a:p>
            <a:r>
              <a:rPr lang="en-US" dirty="0"/>
              <a:t>Meshing of Geometry</a:t>
            </a:r>
          </a:p>
        </p:txBody>
      </p:sp>
      <mc:AlternateContent xmlns:mc="http://schemas.openxmlformats.org/markup-compatibility/2006">
        <mc:Choice xmlns:am3d="http://schemas.microsoft.com/office/drawing/2017/model3d" Requires="am3d">
          <p:graphicFrame>
            <p:nvGraphicFramePr>
              <p:cNvPr id="3" name="3D Model 2">
                <a:extLst>
                  <a:ext uri="{FF2B5EF4-FFF2-40B4-BE49-F238E27FC236}">
                    <a16:creationId xmlns:a16="http://schemas.microsoft.com/office/drawing/2014/main" id="{7FC7FCD5-4C26-CB3B-CD74-55D61E37F01B}"/>
                  </a:ext>
                </a:extLst>
              </p:cNvPr>
              <p:cNvGraphicFramePr>
                <a:graphicFrameLocks noChangeAspect="1"/>
              </p:cNvGraphicFramePr>
              <p:nvPr>
                <p:extLst>
                  <p:ext uri="{D42A27DB-BD31-4B8C-83A1-F6EECF244321}">
                    <p14:modId xmlns:p14="http://schemas.microsoft.com/office/powerpoint/2010/main" val="2981808038"/>
                  </p:ext>
                </p:extLst>
              </p:nvPr>
            </p:nvGraphicFramePr>
            <p:xfrm>
              <a:off x="5562600" y="1690688"/>
              <a:ext cx="6319301" cy="1979525"/>
            </p:xfrm>
            <a:graphic>
              <a:graphicData uri="http://schemas.microsoft.com/office/drawing/2017/model3d">
                <am3d:model3d r:embed="rId2">
                  <am3d:spPr>
                    <a:xfrm>
                      <a:off x="0" y="0"/>
                      <a:ext cx="6319301" cy="1979525"/>
                    </a:xfrm>
                    <a:prstGeom prst="rect">
                      <a:avLst/>
                    </a:prstGeom>
                  </am3d:spPr>
                  <am3d:camera>
                    <am3d:pos x="0" y="0" z="48086643"/>
                    <am3d:up dx="0" dy="36000000" dz="0"/>
                    <am3d:lookAt x="0" y="0" z="0"/>
                    <am3d:perspective fov="2700000"/>
                  </am3d:camera>
                  <am3d:trans>
                    <am3d:meterPerModelUnit n="869" d="1000000"/>
                    <am3d:preTrans dx="479813529" dy="0" dz="90204534"/>
                    <am3d:scale>
                      <am3d:sx n="1000000" d="1000000"/>
                      <am3d:sy n="1000000" d="1000000"/>
                      <am3d:sz n="1000000" d="1000000"/>
                    </am3d:scale>
                    <am3d:rot ax="-5376086" ay="15" az="-1401"/>
                    <am3d:postTrans dx="0" dy="0" dz="0"/>
                  </am3d:trans>
                  <am3d:raster rName="Office3DRenderer" rVer="16.0.8326">
                    <am3d:blip r:embed="rId3"/>
                  </am3d:raster>
                  <am3d:objViewport viewportSz="6847680"/>
                  <am3d:ambientLight>
                    <am3d:clr>
                      <a:scrgbClr r="50000" g="50000" b="50000"/>
                    </am3d:clr>
                    <am3d:illuminance n="500000" d="1000000"/>
                  </am3d:ambientLight>
                  <am3d:ptLight rad="0">
                    <am3d:clr>
                      <a:scrgbClr r="100000" g="75000" b="50000"/>
                    </am3d:clr>
                    <am3d:intensity n="9765625" d="1000000"/>
                    <am3d:pos x="21959998" y="70920001" z="16344003"/>
                  </am3d:ptLight>
                  <am3d:ptLight rad="0">
                    <am3d:clr>
                      <a:scrgbClr r="40000" g="60000" b="95000"/>
                    </am3d:clr>
                    <am3d:intensity n="12250000" d="1000000"/>
                    <am3d:pos x="-37964106" y="51130435" z="57631972"/>
                  </am3d:ptLight>
                  <am3d:ptLight rad="0">
                    <am3d:clr>
                      <a:scrgbClr r="86837" g="72700" b="100000"/>
                    </am3d:clr>
                    <am3d:intensity n="3125000" d="1000000"/>
                    <am3d:pos x="-37739122" y="58056624" z="-34769649"/>
                  </am3d:ptLight>
                </am3d:model3d>
              </a:graphicData>
            </a:graphic>
          </p:graphicFrame>
        </mc:Choice>
        <mc:Fallback>
          <p:pic>
            <p:nvPicPr>
              <p:cNvPr id="3" name="3D Model 2">
                <a:extLst>
                  <a:ext uri="{FF2B5EF4-FFF2-40B4-BE49-F238E27FC236}">
                    <a16:creationId xmlns:a16="http://schemas.microsoft.com/office/drawing/2014/main" id="{7FC7FCD5-4C26-CB3B-CD74-55D61E37F01B}"/>
                  </a:ext>
                </a:extLst>
              </p:cNvPr>
              <p:cNvPicPr>
                <a:picLocks noGrp="1" noRot="1" noChangeAspect="1" noMove="1" noResize="1" noEditPoints="1" noAdjustHandles="1" noChangeArrowheads="1" noChangeShapeType="1" noCrop="1"/>
              </p:cNvPicPr>
              <p:nvPr/>
            </p:nvPicPr>
            <p:blipFill>
              <a:blip r:embed="rId3"/>
              <a:stretch>
                <a:fillRect/>
              </a:stretch>
            </p:blipFill>
            <p:spPr>
              <a:xfrm>
                <a:off x="5562600" y="1690688"/>
                <a:ext cx="6319301" cy="1979525"/>
              </a:xfrm>
              <a:prstGeom prst="rect">
                <a:avLst/>
              </a:prstGeom>
            </p:spPr>
          </p:pic>
        </mc:Fallback>
      </mc:AlternateContent>
      <p:sp>
        <p:nvSpPr>
          <p:cNvPr id="6" name="TextBox 5">
            <a:extLst>
              <a:ext uri="{FF2B5EF4-FFF2-40B4-BE49-F238E27FC236}">
                <a16:creationId xmlns:a16="http://schemas.microsoft.com/office/drawing/2014/main" id="{350B3023-0056-9369-9182-E13CF2771596}"/>
              </a:ext>
            </a:extLst>
          </p:cNvPr>
          <p:cNvSpPr txBox="1"/>
          <p:nvPr/>
        </p:nvSpPr>
        <p:spPr>
          <a:xfrm>
            <a:off x="955158" y="1789394"/>
            <a:ext cx="6097772" cy="1477328"/>
          </a:xfrm>
          <a:prstGeom prst="rect">
            <a:avLst/>
          </a:prstGeom>
          <a:noFill/>
        </p:spPr>
        <p:txBody>
          <a:bodyPr wrap="square">
            <a:spAutoFit/>
          </a:bodyPr>
          <a:lstStyle/>
          <a:p>
            <a:r>
              <a:rPr lang="en-US" i="1" dirty="0"/>
              <a:t>Boundary types:</a:t>
            </a:r>
          </a:p>
          <a:p>
            <a:pPr marL="742950" lvl="1" indent="-285750">
              <a:buFont typeface="Arial" panose="020B0604020202020204" pitchFamily="34" charset="0"/>
              <a:buChar char="•"/>
            </a:pPr>
            <a:r>
              <a:rPr lang="en-US" i="1" dirty="0"/>
              <a:t>Wall – count(2)</a:t>
            </a:r>
          </a:p>
          <a:p>
            <a:pPr marL="742950" lvl="1" indent="-285750">
              <a:buFont typeface="Arial" panose="020B0604020202020204" pitchFamily="34" charset="0"/>
              <a:buChar char="•"/>
            </a:pPr>
            <a:r>
              <a:rPr lang="en-US" i="1" dirty="0"/>
              <a:t>Empty – count(N/A)</a:t>
            </a:r>
          </a:p>
          <a:p>
            <a:pPr marL="742950" lvl="1" indent="-285750">
              <a:buFont typeface="Arial" panose="020B0604020202020204" pitchFamily="34" charset="0"/>
              <a:buChar char="•"/>
            </a:pPr>
            <a:r>
              <a:rPr lang="en-US" i="1" dirty="0"/>
              <a:t>Patch – count(3){2- inlet &amp; 1-outlet}</a:t>
            </a:r>
          </a:p>
          <a:p>
            <a:pPr marL="742950" lvl="1" indent="-285750">
              <a:buFont typeface="Arial" panose="020B0604020202020204" pitchFamily="34" charset="0"/>
              <a:buChar char="•"/>
            </a:pPr>
            <a:r>
              <a:rPr lang="en-US" i="1" dirty="0"/>
              <a:t>Symmetry –count(1)</a:t>
            </a:r>
          </a:p>
        </p:txBody>
      </p:sp>
      <p:sp>
        <p:nvSpPr>
          <p:cNvPr id="10" name="TextBox 9">
            <a:extLst>
              <a:ext uri="{FF2B5EF4-FFF2-40B4-BE49-F238E27FC236}">
                <a16:creationId xmlns:a16="http://schemas.microsoft.com/office/drawing/2014/main" id="{7E668358-C56F-7978-CEDA-1FBD582B2CDE}"/>
              </a:ext>
            </a:extLst>
          </p:cNvPr>
          <p:cNvSpPr txBox="1"/>
          <p:nvPr/>
        </p:nvSpPr>
        <p:spPr>
          <a:xfrm>
            <a:off x="5932966" y="3429000"/>
            <a:ext cx="5727405" cy="276999"/>
          </a:xfrm>
          <a:prstGeom prst="rect">
            <a:avLst/>
          </a:prstGeom>
          <a:noFill/>
        </p:spPr>
        <p:txBody>
          <a:bodyPr wrap="square">
            <a:spAutoFit/>
          </a:bodyPr>
          <a:lstStyle/>
          <a:p>
            <a:pPr algn="ctr"/>
            <a:r>
              <a:rPr lang="en-US" sz="1200" i="1" dirty="0"/>
              <a:t>Fig : 2D- Section geometry of chamber</a:t>
            </a:r>
          </a:p>
        </p:txBody>
      </p:sp>
      <mc:AlternateContent xmlns:mc="http://schemas.openxmlformats.org/markup-compatibility/2006">
        <mc:Choice xmlns:am3d="http://schemas.microsoft.com/office/drawing/2017/model3d" Requires="am3d">
          <p:graphicFrame>
            <p:nvGraphicFramePr>
              <p:cNvPr id="21" name="3D Model 20">
                <a:extLst>
                  <a:ext uri="{FF2B5EF4-FFF2-40B4-BE49-F238E27FC236}">
                    <a16:creationId xmlns:a16="http://schemas.microsoft.com/office/drawing/2014/main" id="{AFFBCDB0-3BC6-937C-F381-1F2EA16D606E}"/>
                  </a:ext>
                </a:extLst>
              </p:cNvPr>
              <p:cNvGraphicFramePr>
                <a:graphicFrameLocks/>
              </p:cNvGraphicFramePr>
              <p:nvPr>
                <p:extLst>
                  <p:ext uri="{D42A27DB-BD31-4B8C-83A1-F6EECF244321}">
                    <p14:modId xmlns:p14="http://schemas.microsoft.com/office/powerpoint/2010/main" val="1027493939"/>
                  </p:ext>
                </p:extLst>
              </p:nvPr>
            </p:nvGraphicFramePr>
            <p:xfrm>
              <a:off x="1837432" y="3629040"/>
              <a:ext cx="2598169" cy="2650779"/>
            </p:xfrm>
            <a:graphic>
              <a:graphicData uri="http://schemas.microsoft.com/office/drawing/2017/model3d">
                <am3d:model3d r:embed="rId4">
                  <am3d:spPr>
                    <a:xfrm>
                      <a:off x="0" y="0"/>
                      <a:ext cx="2598169" cy="2650779"/>
                    </a:xfrm>
                    <a:prstGeom prst="rect">
                      <a:avLst/>
                    </a:prstGeom>
                  </am3d:spPr>
                  <am3d:camera>
                    <am3d:pos x="0" y="0" z="81469202"/>
                    <am3d:up dx="0" dy="36000000" dz="0"/>
                    <am3d:lookAt x="0" y="0" z="0"/>
                    <am3d:perspective fov="2798001"/>
                  </am3d:camera>
                  <am3d:trans>
                    <am3d:meterPerModelUnit n="500000" d="1000000"/>
                    <am3d:preTrans dx="0" dy="0" dz="0"/>
                    <am3d:scale>
                      <am3d:sx n="1000000" d="1000000"/>
                      <am3d:sy n="1000000" d="1000000"/>
                      <am3d:sz n="1000000" d="1000000"/>
                    </am3d:scale>
                    <am3d:rot ax="6826151" ay="2276392" az="7536822"/>
                    <am3d:postTrans dx="0" dy="0" dz="0"/>
                  </am3d:trans>
                  <am3d:raster rName="Office3DRenderer" rVer="16.0.8326">
                    <am3d:blip r:embed="rId5"/>
                  </am3d:raster>
                  <am3d:winViewport/>
                  <am3d:ambientLight>
                    <am3d:clr>
                      <a:scrgbClr r="50000" g="50000" b="50000"/>
                    </am3d:clr>
                    <am3d:illuminance n="500000" d="1000000"/>
                  </am3d:ambientLight>
                  <am3d:ptLight rad="0">
                    <am3d:clr>
                      <a:scrgbClr r="100000" g="75000" b="50000"/>
                    </am3d:clr>
                    <am3d:intensity n="9765625" d="1000000"/>
                    <am3d:pos x="21959998" y="70920001" z="16344003"/>
                  </am3d:ptLight>
                  <am3d:ptLight rad="0">
                    <am3d:clr>
                      <a:scrgbClr r="40000" g="60000" b="95000"/>
                    </am3d:clr>
                    <am3d:intensity n="12250000" d="1000000"/>
                    <am3d:pos x="-37964106" y="51130435" z="57631972"/>
                  </am3d:ptLight>
                  <am3d:ptLight rad="0">
                    <am3d:clr>
                      <a:scrgbClr r="86837" g="72700" b="100000"/>
                    </am3d:clr>
                    <am3d:intensity n="3125000" d="1000000"/>
                    <am3d:pos x="-37739122" y="58056624" z="-34769649"/>
                  </am3d:ptLight>
                </am3d:model3d>
              </a:graphicData>
            </a:graphic>
          </p:graphicFrame>
        </mc:Choice>
        <mc:Fallback>
          <p:pic>
            <p:nvPicPr>
              <p:cNvPr id="21" name="3D Model 20">
                <a:extLst>
                  <a:ext uri="{FF2B5EF4-FFF2-40B4-BE49-F238E27FC236}">
                    <a16:creationId xmlns:a16="http://schemas.microsoft.com/office/drawing/2014/main" id="{AFFBCDB0-3BC6-937C-F381-1F2EA16D606E}"/>
                  </a:ext>
                </a:extLst>
              </p:cNvPr>
              <p:cNvPicPr>
                <a:picLocks noGrp="1" noRot="1" noChangeAspect="1" noMove="1" noResize="1" noEditPoints="1" noAdjustHandles="1" noChangeArrowheads="1" noChangeShapeType="1" noCrop="1"/>
              </p:cNvPicPr>
              <p:nvPr/>
            </p:nvPicPr>
            <p:blipFill>
              <a:blip r:embed="rId5"/>
              <a:stretch>
                <a:fillRect/>
              </a:stretch>
            </p:blipFill>
            <p:spPr>
              <a:xfrm>
                <a:off x="1837432" y="3629040"/>
                <a:ext cx="2598169" cy="2650779"/>
              </a:xfrm>
              <a:prstGeom prst="rect">
                <a:avLst/>
              </a:prstGeom>
            </p:spPr>
          </p:pic>
        </mc:Fallback>
      </mc:AlternateContent>
      <p:cxnSp>
        <p:nvCxnSpPr>
          <p:cNvPr id="25" name="Straight Arrow Connector 24">
            <a:extLst>
              <a:ext uri="{FF2B5EF4-FFF2-40B4-BE49-F238E27FC236}">
                <a16:creationId xmlns:a16="http://schemas.microsoft.com/office/drawing/2014/main" id="{10CF583D-11C2-98A1-B24D-DAB3F3EE5CE7}"/>
              </a:ext>
            </a:extLst>
          </p:cNvPr>
          <p:cNvCxnSpPr>
            <a:cxnSpLocks/>
          </p:cNvCxnSpPr>
          <p:nvPr/>
        </p:nvCxnSpPr>
        <p:spPr>
          <a:xfrm flipV="1">
            <a:off x="1220996" y="5225143"/>
            <a:ext cx="1232871" cy="50074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1" name="Straight Arrow Connector 30">
            <a:extLst>
              <a:ext uri="{FF2B5EF4-FFF2-40B4-BE49-F238E27FC236}">
                <a16:creationId xmlns:a16="http://schemas.microsoft.com/office/drawing/2014/main" id="{5A047091-EE1D-DC9A-36CE-5D3556CCC7A6}"/>
              </a:ext>
            </a:extLst>
          </p:cNvPr>
          <p:cNvCxnSpPr>
            <a:cxnSpLocks/>
          </p:cNvCxnSpPr>
          <p:nvPr/>
        </p:nvCxnSpPr>
        <p:spPr>
          <a:xfrm flipV="1">
            <a:off x="4256314" y="4158343"/>
            <a:ext cx="881743" cy="35922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46" name="TextBox 45">
            <a:extLst>
              <a:ext uri="{FF2B5EF4-FFF2-40B4-BE49-F238E27FC236}">
                <a16:creationId xmlns:a16="http://schemas.microsoft.com/office/drawing/2014/main" id="{4E1CC599-04E6-739E-4063-2DD607AF6157}"/>
              </a:ext>
            </a:extLst>
          </p:cNvPr>
          <p:cNvSpPr txBox="1"/>
          <p:nvPr/>
        </p:nvSpPr>
        <p:spPr>
          <a:xfrm rot="20282430">
            <a:off x="1533309" y="5084411"/>
            <a:ext cx="608243" cy="369332"/>
          </a:xfrm>
          <a:prstGeom prst="rect">
            <a:avLst/>
          </a:prstGeom>
          <a:noFill/>
        </p:spPr>
        <p:txBody>
          <a:bodyPr wrap="none" rtlCol="0">
            <a:spAutoFit/>
          </a:bodyPr>
          <a:lstStyle/>
          <a:p>
            <a:r>
              <a:rPr lang="en-US" dirty="0"/>
              <a:t>Inlet</a:t>
            </a:r>
          </a:p>
        </p:txBody>
      </p:sp>
      <p:sp>
        <p:nvSpPr>
          <p:cNvPr id="47" name="TextBox 46">
            <a:extLst>
              <a:ext uri="{FF2B5EF4-FFF2-40B4-BE49-F238E27FC236}">
                <a16:creationId xmlns:a16="http://schemas.microsoft.com/office/drawing/2014/main" id="{414A1738-BA82-14CB-800A-C340651AB57B}"/>
              </a:ext>
            </a:extLst>
          </p:cNvPr>
          <p:cNvSpPr txBox="1"/>
          <p:nvPr/>
        </p:nvSpPr>
        <p:spPr>
          <a:xfrm rot="20276101">
            <a:off x="4207001" y="3990900"/>
            <a:ext cx="779765" cy="369332"/>
          </a:xfrm>
          <a:prstGeom prst="rect">
            <a:avLst/>
          </a:prstGeom>
          <a:noFill/>
        </p:spPr>
        <p:txBody>
          <a:bodyPr wrap="none" rtlCol="0">
            <a:spAutoFit/>
          </a:bodyPr>
          <a:lstStyle/>
          <a:p>
            <a:r>
              <a:rPr lang="en-US" dirty="0"/>
              <a:t>Outlet</a:t>
            </a:r>
          </a:p>
        </p:txBody>
      </p:sp>
      <p:sp>
        <p:nvSpPr>
          <p:cNvPr id="48" name="TextBox 47">
            <a:extLst>
              <a:ext uri="{FF2B5EF4-FFF2-40B4-BE49-F238E27FC236}">
                <a16:creationId xmlns:a16="http://schemas.microsoft.com/office/drawing/2014/main" id="{8E9E852F-533A-6B4D-53A4-BC7512024DE7}"/>
              </a:ext>
            </a:extLst>
          </p:cNvPr>
          <p:cNvSpPr txBox="1"/>
          <p:nvPr/>
        </p:nvSpPr>
        <p:spPr>
          <a:xfrm rot="20276101">
            <a:off x="3170764" y="4626107"/>
            <a:ext cx="598241" cy="369332"/>
          </a:xfrm>
          <a:prstGeom prst="rect">
            <a:avLst/>
          </a:prstGeom>
          <a:noFill/>
        </p:spPr>
        <p:txBody>
          <a:bodyPr wrap="none" rtlCol="0">
            <a:spAutoFit/>
          </a:bodyPr>
          <a:lstStyle/>
          <a:p>
            <a:r>
              <a:rPr lang="en-US" dirty="0"/>
              <a:t>Wall</a:t>
            </a:r>
          </a:p>
        </p:txBody>
      </p:sp>
      <mc:AlternateContent xmlns:mc="http://schemas.openxmlformats.org/markup-compatibility/2006">
        <mc:Choice xmlns:am3d="http://schemas.microsoft.com/office/drawing/2017/model3d" Requires="am3d">
          <p:graphicFrame>
            <p:nvGraphicFramePr>
              <p:cNvPr id="50" name="3D Model 49">
                <a:extLst>
                  <a:ext uri="{FF2B5EF4-FFF2-40B4-BE49-F238E27FC236}">
                    <a16:creationId xmlns:a16="http://schemas.microsoft.com/office/drawing/2014/main" id="{CA6D87D0-10E3-8008-8D70-91439840153C}"/>
                  </a:ext>
                </a:extLst>
              </p:cNvPr>
              <p:cNvGraphicFramePr>
                <a:graphicFrameLocks/>
              </p:cNvGraphicFramePr>
              <p:nvPr>
                <p:extLst>
                  <p:ext uri="{D42A27DB-BD31-4B8C-83A1-F6EECF244321}">
                    <p14:modId xmlns:p14="http://schemas.microsoft.com/office/powerpoint/2010/main" val="2277858131"/>
                  </p:ext>
                </p:extLst>
              </p:nvPr>
            </p:nvGraphicFramePr>
            <p:xfrm>
              <a:off x="6573721" y="4517571"/>
              <a:ext cx="4955548" cy="1534211"/>
            </p:xfrm>
            <a:graphic>
              <a:graphicData uri="http://schemas.microsoft.com/office/drawing/2017/model3d">
                <am3d:model3d r:embed="rId6">
                  <am3d:spPr>
                    <a:xfrm>
                      <a:off x="0" y="0"/>
                      <a:ext cx="4955548" cy="1534211"/>
                    </a:xfrm>
                    <a:prstGeom prst="rect">
                      <a:avLst/>
                    </a:prstGeom>
                    <a:ln>
                      <a:solidFill>
                        <a:schemeClr val="tx1"/>
                      </a:solidFill>
                    </a:ln>
                  </am3d:spPr>
                  <am3d:camera>
                    <am3d:pos x="11630291" y="1739511" z="48051396"/>
                    <am3d:up dx="0" dy="36000000" dz="0"/>
                    <am3d:lookAt x="11630291" y="1739511" z="0"/>
                    <am3d:perspective fov="275894"/>
                  </am3d:camera>
                  <am3d:trans>
                    <am3d:meterPerModelUnit n="872873" d="1000000"/>
                    <am3d:preTrans dx="481566741" dy="-31464" dz="90703433"/>
                    <am3d:scale>
                      <am3d:sx n="1000000" d="1000000"/>
                      <am3d:sy n="1000000" d="1000000"/>
                      <am3d:sz n="1000000" d="1000000"/>
                    </am3d:scale>
                    <am3d:rot ax="-5691332" ay="-2164" az="-25489"/>
                    <am3d:postTrans dx="0" dy="0" dz="0"/>
                  </am3d:trans>
                  <am3d:raster rName="Office3DRenderer" rVer="16.0.8326">
                    <am3d:blip r:embed="rId7"/>
                  </am3d:raster>
                  <am3d:winViewport/>
                  <am3d:ambientLight>
                    <am3d:clr>
                      <a:scrgbClr r="50000" g="50000" b="50000"/>
                    </am3d:clr>
                    <am3d:illuminance n="500000" d="1000000"/>
                  </am3d:ambientLight>
                  <am3d:ptLight rad="0">
                    <am3d:clr>
                      <a:scrgbClr r="100000" g="75000" b="50000"/>
                    </am3d:clr>
                    <am3d:intensity n="9765625" d="1000000"/>
                    <am3d:pos x="21959998" y="70920001" z="16344003"/>
                  </am3d:ptLight>
                  <am3d:ptLight rad="0">
                    <am3d:clr>
                      <a:scrgbClr r="40000" g="60000" b="95000"/>
                    </am3d:clr>
                    <am3d:intensity n="12250000" d="1000000"/>
                    <am3d:pos x="-37964106" y="51130435" z="57631972"/>
                  </am3d:ptLight>
                  <am3d:ptLight rad="0">
                    <am3d:clr>
                      <a:scrgbClr r="86837" g="72700" b="100000"/>
                    </am3d:clr>
                    <am3d:intensity n="3125000" d="1000000"/>
                    <am3d:pos x="-37739122" y="58056624" z="-34769649"/>
                  </am3d:ptLight>
                </am3d:model3d>
              </a:graphicData>
            </a:graphic>
          </p:graphicFrame>
        </mc:Choice>
        <mc:Fallback>
          <p:pic>
            <p:nvPicPr>
              <p:cNvPr id="50" name="3D Model 49">
                <a:extLst>
                  <a:ext uri="{FF2B5EF4-FFF2-40B4-BE49-F238E27FC236}">
                    <a16:creationId xmlns:a16="http://schemas.microsoft.com/office/drawing/2014/main" id="{CA6D87D0-10E3-8008-8D70-91439840153C}"/>
                  </a:ext>
                </a:extLst>
              </p:cNvPr>
              <p:cNvPicPr>
                <a:picLocks noGrp="1" noRot="1" noChangeAspect="1" noMove="1" noResize="1" noEditPoints="1" noAdjustHandles="1" noChangeArrowheads="1" noChangeShapeType="1" noCrop="1"/>
              </p:cNvPicPr>
              <p:nvPr/>
            </p:nvPicPr>
            <p:blipFill>
              <a:blip r:embed="rId7"/>
              <a:stretch>
                <a:fillRect/>
              </a:stretch>
            </p:blipFill>
            <p:spPr>
              <a:xfrm>
                <a:off x="6573721" y="4517571"/>
                <a:ext cx="4955548" cy="1534211"/>
              </a:xfrm>
              <a:prstGeom prst="rect">
                <a:avLst/>
              </a:prstGeom>
              <a:ln>
                <a:solidFill>
                  <a:schemeClr val="tx1"/>
                </a:solidFill>
              </a:ln>
            </p:spPr>
          </p:pic>
        </mc:Fallback>
      </mc:AlternateContent>
      <p:sp>
        <p:nvSpPr>
          <p:cNvPr id="51" name="Oval 50">
            <a:extLst>
              <a:ext uri="{FF2B5EF4-FFF2-40B4-BE49-F238E27FC236}">
                <a16:creationId xmlns:a16="http://schemas.microsoft.com/office/drawing/2014/main" id="{9660A511-8650-487E-D45C-A8C75E2B419F}"/>
              </a:ext>
            </a:extLst>
          </p:cNvPr>
          <p:cNvSpPr/>
          <p:nvPr/>
        </p:nvSpPr>
        <p:spPr>
          <a:xfrm>
            <a:off x="10106676" y="1869559"/>
            <a:ext cx="1130166" cy="985535"/>
          </a:xfrm>
          <a:prstGeom prst="ellipse">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53" name="Straight Connector 52">
            <a:extLst>
              <a:ext uri="{FF2B5EF4-FFF2-40B4-BE49-F238E27FC236}">
                <a16:creationId xmlns:a16="http://schemas.microsoft.com/office/drawing/2014/main" id="{D19657C3-57D1-0C25-C053-451DD8A6175E}"/>
              </a:ext>
            </a:extLst>
          </p:cNvPr>
          <p:cNvCxnSpPr/>
          <p:nvPr/>
        </p:nvCxnSpPr>
        <p:spPr>
          <a:xfrm flipH="1">
            <a:off x="6573721" y="2362326"/>
            <a:ext cx="3532955" cy="2130844"/>
          </a:xfrm>
          <a:prstGeom prst="line">
            <a:avLst/>
          </a:prstGeom>
        </p:spPr>
        <p:style>
          <a:lnRef idx="1">
            <a:schemeClr val="accent1"/>
          </a:lnRef>
          <a:fillRef idx="0">
            <a:schemeClr val="accent1"/>
          </a:fillRef>
          <a:effectRef idx="0">
            <a:schemeClr val="accent1"/>
          </a:effectRef>
          <a:fontRef idx="minor">
            <a:schemeClr val="tx1"/>
          </a:fontRef>
        </p:style>
      </p:cxnSp>
      <p:cxnSp>
        <p:nvCxnSpPr>
          <p:cNvPr id="55" name="Straight Connector 54">
            <a:extLst>
              <a:ext uri="{FF2B5EF4-FFF2-40B4-BE49-F238E27FC236}">
                <a16:creationId xmlns:a16="http://schemas.microsoft.com/office/drawing/2014/main" id="{C67912FE-23A2-5F42-F793-18CEB4E46332}"/>
              </a:ext>
            </a:extLst>
          </p:cNvPr>
          <p:cNvCxnSpPr>
            <a:cxnSpLocks/>
          </p:cNvCxnSpPr>
          <p:nvPr/>
        </p:nvCxnSpPr>
        <p:spPr>
          <a:xfrm>
            <a:off x="11233675" y="2502260"/>
            <a:ext cx="295594" cy="2025005"/>
          </a:xfrm>
          <a:prstGeom prst="line">
            <a:avLst/>
          </a:prstGeom>
        </p:spPr>
        <p:style>
          <a:lnRef idx="1">
            <a:schemeClr val="accent1"/>
          </a:lnRef>
          <a:fillRef idx="0">
            <a:schemeClr val="accent1"/>
          </a:fillRef>
          <a:effectRef idx="0">
            <a:schemeClr val="accent1"/>
          </a:effectRef>
          <a:fontRef idx="minor">
            <a:schemeClr val="tx1"/>
          </a:fontRef>
        </p:style>
      </p:cxnSp>
      <p:sp>
        <p:nvSpPr>
          <p:cNvPr id="60" name="TextBox 59">
            <a:extLst>
              <a:ext uri="{FF2B5EF4-FFF2-40B4-BE49-F238E27FC236}">
                <a16:creationId xmlns:a16="http://schemas.microsoft.com/office/drawing/2014/main" id="{E8AE8FC0-3B43-B200-132F-0E96079AC64F}"/>
              </a:ext>
            </a:extLst>
          </p:cNvPr>
          <p:cNvSpPr txBox="1"/>
          <p:nvPr/>
        </p:nvSpPr>
        <p:spPr>
          <a:xfrm>
            <a:off x="6108179" y="6070165"/>
            <a:ext cx="5727405" cy="276999"/>
          </a:xfrm>
          <a:prstGeom prst="rect">
            <a:avLst/>
          </a:prstGeom>
          <a:noFill/>
        </p:spPr>
        <p:txBody>
          <a:bodyPr wrap="square">
            <a:spAutoFit/>
          </a:bodyPr>
          <a:lstStyle/>
          <a:p>
            <a:pPr algn="ctr"/>
            <a:r>
              <a:rPr lang="en-US" sz="1200" i="1" dirty="0"/>
              <a:t>Fig : Chamber wall 2D (reduced resolution)</a:t>
            </a:r>
          </a:p>
        </p:txBody>
      </p:sp>
      <p:sp>
        <p:nvSpPr>
          <p:cNvPr id="61" name="TextBox 60">
            <a:extLst>
              <a:ext uri="{FF2B5EF4-FFF2-40B4-BE49-F238E27FC236}">
                <a16:creationId xmlns:a16="http://schemas.microsoft.com/office/drawing/2014/main" id="{1C78F23F-0A7A-E8C1-771A-F3739D52FEEC}"/>
              </a:ext>
            </a:extLst>
          </p:cNvPr>
          <p:cNvSpPr txBox="1"/>
          <p:nvPr/>
        </p:nvSpPr>
        <p:spPr>
          <a:xfrm>
            <a:off x="1733180" y="5895879"/>
            <a:ext cx="5727405" cy="276999"/>
          </a:xfrm>
          <a:prstGeom prst="rect">
            <a:avLst/>
          </a:prstGeom>
          <a:noFill/>
        </p:spPr>
        <p:txBody>
          <a:bodyPr wrap="square">
            <a:spAutoFit/>
          </a:bodyPr>
          <a:lstStyle/>
          <a:p>
            <a:pPr algn="ctr"/>
            <a:r>
              <a:rPr lang="en-US" sz="1200" i="1" dirty="0"/>
              <a:t>Fig : Single block 1D flow</a:t>
            </a:r>
          </a:p>
        </p:txBody>
      </p:sp>
    </p:spTree>
    <p:extLst>
      <p:ext uri="{BB962C8B-B14F-4D97-AF65-F5344CB8AC3E}">
        <p14:creationId xmlns:p14="http://schemas.microsoft.com/office/powerpoint/2010/main" val="372340114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F89D74-1956-1A16-DCC6-69AFDD64F8FA}"/>
              </a:ext>
            </a:extLst>
          </p:cNvPr>
          <p:cNvSpPr>
            <a:spLocks noGrp="1"/>
          </p:cNvSpPr>
          <p:nvPr>
            <p:ph type="title"/>
          </p:nvPr>
        </p:nvSpPr>
        <p:spPr>
          <a:xfrm>
            <a:off x="283028" y="436335"/>
            <a:ext cx="10515600" cy="1325563"/>
          </a:xfrm>
        </p:spPr>
        <p:txBody>
          <a:bodyPr>
            <a:normAutofit/>
          </a:bodyPr>
          <a:lstStyle/>
          <a:p>
            <a:r>
              <a:rPr lang="en-US" sz="4000" dirty="0">
                <a:latin typeface="Arial Black" panose="020B0A04020102020204" pitchFamily="34" charset="0"/>
              </a:rPr>
              <a:t>QUESTIONS?</a:t>
            </a:r>
          </a:p>
        </p:txBody>
      </p:sp>
      <p:pic>
        <p:nvPicPr>
          <p:cNvPr id="4" name="Picture 3">
            <a:extLst>
              <a:ext uri="{FF2B5EF4-FFF2-40B4-BE49-F238E27FC236}">
                <a16:creationId xmlns:a16="http://schemas.microsoft.com/office/drawing/2014/main" id="{EE2FAC92-3D4E-2268-2BE2-21ED4CE8033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294414" y="0"/>
            <a:ext cx="7897586" cy="6858000"/>
          </a:xfrm>
          <a:prstGeom prst="rect">
            <a:avLst/>
          </a:prstGeom>
        </p:spPr>
      </p:pic>
      <p:sp>
        <p:nvSpPr>
          <p:cNvPr id="5" name="Rectangle 4">
            <a:extLst>
              <a:ext uri="{FF2B5EF4-FFF2-40B4-BE49-F238E27FC236}">
                <a16:creationId xmlns:a16="http://schemas.microsoft.com/office/drawing/2014/main" id="{70F17C94-DEB7-082D-03A4-421CBDB07026}"/>
              </a:ext>
            </a:extLst>
          </p:cNvPr>
          <p:cNvSpPr/>
          <p:nvPr/>
        </p:nvSpPr>
        <p:spPr>
          <a:xfrm>
            <a:off x="4294414" y="0"/>
            <a:ext cx="7897586" cy="6858000"/>
          </a:xfrm>
          <a:prstGeom prst="rect">
            <a:avLst/>
          </a:prstGeom>
          <a:solidFill>
            <a:schemeClr val="dk1">
              <a:alpha val="8000"/>
            </a:schemeClr>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94753731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2859795-0C27-DBC7-9EB2-964FC30BD92F}"/>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FA62FB6E-A787-D42A-FDBD-2BDB0380F09D}"/>
              </a:ext>
            </a:extLst>
          </p:cNvPr>
          <p:cNvSpPr/>
          <p:nvPr/>
        </p:nvSpPr>
        <p:spPr>
          <a:xfrm>
            <a:off x="0" y="0"/>
            <a:ext cx="12192000" cy="6858000"/>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194D2B9A-786D-4C27-9481-E635BDCE9D0B}"/>
              </a:ext>
            </a:extLst>
          </p:cNvPr>
          <p:cNvSpPr>
            <a:spLocks noGrp="1"/>
          </p:cNvSpPr>
          <p:nvPr>
            <p:ph type="title"/>
          </p:nvPr>
        </p:nvSpPr>
        <p:spPr/>
        <p:txBody>
          <a:bodyPr/>
          <a:lstStyle/>
          <a:p>
            <a:r>
              <a:rPr lang="en-US" dirty="0"/>
              <a:t>THANKYOU</a:t>
            </a:r>
          </a:p>
        </p:txBody>
      </p:sp>
      <p:pic>
        <p:nvPicPr>
          <p:cNvPr id="3" name="Picture 2" descr="A picture containing cup, coffee, food, beverage&#10;&#10;Description automatically generated">
            <a:extLst>
              <a:ext uri="{FF2B5EF4-FFF2-40B4-BE49-F238E27FC236}">
                <a16:creationId xmlns:a16="http://schemas.microsoft.com/office/drawing/2014/main" id="{EF8784F4-9542-859A-B7D6-B758F8A844F1}"/>
              </a:ext>
            </a:extLst>
          </p:cNvPr>
          <p:cNvPicPr>
            <a:picLocks noChangeAspect="1"/>
          </p:cNvPicPr>
          <p:nvPr/>
        </p:nvPicPr>
        <p:blipFill rotWithShape="1">
          <a:blip r:embed="rId2">
            <a:alphaModFix amt="35000"/>
            <a:extLst>
              <a:ext uri="{28A0092B-C50C-407E-A947-70E740481C1C}">
                <a14:useLocalDpi xmlns:a14="http://schemas.microsoft.com/office/drawing/2010/main" val="0"/>
              </a:ext>
            </a:extLst>
          </a:blip>
          <a:srcRect/>
          <a:stretch/>
        </p:blipFill>
        <p:spPr>
          <a:xfrm>
            <a:off x="0" y="10"/>
            <a:ext cx="12191980" cy="6857990"/>
          </a:xfrm>
          <a:prstGeom prst="rect">
            <a:avLst/>
          </a:prstGeom>
        </p:spPr>
      </p:pic>
      <p:sp>
        <p:nvSpPr>
          <p:cNvPr id="5" name="Title 8">
            <a:extLst>
              <a:ext uri="{FF2B5EF4-FFF2-40B4-BE49-F238E27FC236}">
                <a16:creationId xmlns:a16="http://schemas.microsoft.com/office/drawing/2014/main" id="{31B1380B-2BE9-2DE1-79BD-D0E765CE5291}"/>
              </a:ext>
            </a:extLst>
          </p:cNvPr>
          <p:cNvSpPr txBox="1">
            <a:spLocks/>
          </p:cNvSpPr>
          <p:nvPr/>
        </p:nvSpPr>
        <p:spPr>
          <a:xfrm>
            <a:off x="310381" y="4308204"/>
            <a:ext cx="3275299" cy="1691903"/>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6000" dirty="0">
                <a:solidFill>
                  <a:schemeClr val="bg1"/>
                </a:solidFill>
                <a:latin typeface="Arial Black" panose="020B0A04020102020204" pitchFamily="34" charset="0"/>
              </a:rPr>
              <a:t>Thank</a:t>
            </a:r>
          </a:p>
          <a:p>
            <a:r>
              <a:rPr lang="en-US" sz="6000" dirty="0">
                <a:solidFill>
                  <a:schemeClr val="bg1"/>
                </a:solidFill>
                <a:latin typeface="Arial Black" panose="020B0A04020102020204" pitchFamily="34" charset="0"/>
              </a:rPr>
              <a:t>you</a:t>
            </a:r>
          </a:p>
        </p:txBody>
      </p:sp>
    </p:spTree>
    <p:extLst>
      <p:ext uri="{BB962C8B-B14F-4D97-AF65-F5344CB8AC3E}">
        <p14:creationId xmlns:p14="http://schemas.microsoft.com/office/powerpoint/2010/main" val="413235871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938</TotalTime>
  <Words>702</Words>
  <Application>Microsoft Office PowerPoint</Application>
  <PresentationFormat>Widescreen</PresentationFormat>
  <Paragraphs>125</Paragraphs>
  <Slides>17</Slides>
  <Notes>0</Notes>
  <HiddenSlides>0</HiddenSlides>
  <MMClips>0</MMClips>
  <ScaleCrop>false</ScaleCrop>
  <HeadingPairs>
    <vt:vector size="6" baseType="variant">
      <vt:variant>
        <vt:lpstr>Fonts Used</vt:lpstr>
      </vt:variant>
      <vt:variant>
        <vt:i4>10</vt:i4>
      </vt:variant>
      <vt:variant>
        <vt:lpstr>Theme</vt:lpstr>
      </vt:variant>
      <vt:variant>
        <vt:i4>1</vt:i4>
      </vt:variant>
      <vt:variant>
        <vt:lpstr>Slide Titles</vt:lpstr>
      </vt:variant>
      <vt:variant>
        <vt:i4>17</vt:i4>
      </vt:variant>
    </vt:vector>
  </HeadingPairs>
  <TitlesOfParts>
    <vt:vector size="28" baseType="lpstr">
      <vt:lpstr>Arial</vt:lpstr>
      <vt:lpstr>Arial Black</vt:lpstr>
      <vt:lpstr>Calibri</vt:lpstr>
      <vt:lpstr>Calibri Light</vt:lpstr>
      <vt:lpstr>Cambria Math</vt:lpstr>
      <vt:lpstr>Google Sans Text</vt:lpstr>
      <vt:lpstr>Impact</vt:lpstr>
      <vt:lpstr>Poppins</vt:lpstr>
      <vt:lpstr>Times New Roman</vt:lpstr>
      <vt:lpstr>Wingdings</vt:lpstr>
      <vt:lpstr>Office Theme</vt:lpstr>
      <vt:lpstr>PowerPoint Presentation</vt:lpstr>
      <vt:lpstr>Combustion Instability in Cryo-LREs</vt:lpstr>
      <vt:lpstr>Agenda</vt:lpstr>
      <vt:lpstr>PowerPoint Presentation</vt:lpstr>
      <vt:lpstr>Nozzle theory and gas dynamics</vt:lpstr>
      <vt:lpstr>Flow Characteristics</vt:lpstr>
      <vt:lpstr>Cryogenic LREs</vt:lpstr>
      <vt:lpstr>Combustion Instability</vt:lpstr>
      <vt:lpstr>Phase I</vt:lpstr>
      <vt:lpstr>DESIGN</vt:lpstr>
      <vt:lpstr>Design of Chamber</vt:lpstr>
      <vt:lpstr>Cryogenic Propellants</vt:lpstr>
      <vt:lpstr>Active Stabilization</vt:lpstr>
      <vt:lpstr>Model</vt:lpstr>
      <vt:lpstr>Meshing of Geometry</vt:lpstr>
      <vt:lpstr>QUESTIONS?</vt:lpstr>
      <vt:lpstr>THANKYOU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tanishk mr</dc:creator>
  <cp:lastModifiedBy>tanishk mr</cp:lastModifiedBy>
  <cp:revision>20</cp:revision>
  <dcterms:created xsi:type="dcterms:W3CDTF">2025-11-14T15:41:32Z</dcterms:created>
  <dcterms:modified xsi:type="dcterms:W3CDTF">2026-01-07T07:51:12Z</dcterms:modified>
</cp:coreProperties>
</file>